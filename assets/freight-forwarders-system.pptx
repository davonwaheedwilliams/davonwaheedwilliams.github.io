
<file path=[Content_Types].xml><?xml version="1.0" encoding="utf-8"?>
<Types xmlns="http://schemas.openxmlformats.org/package/2006/content-types">
  <Default Extension="jpeg" ContentType="image/jpeg"/>
  <Default Extension="jp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0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78" r:id="rId1"/>
  </p:sldMasterIdLst>
  <p:sldIdLst>
    <p:sldId id="256" r:id="rId2"/>
    <p:sldId id="257" r:id="rId3"/>
    <p:sldId id="258" r:id="rId4"/>
    <p:sldId id="296" r:id="rId5"/>
    <p:sldId id="282" r:id="rId6"/>
    <p:sldId id="281" r:id="rId7"/>
    <p:sldId id="280" r:id="rId8"/>
    <p:sldId id="297" r:id="rId9"/>
    <p:sldId id="284" r:id="rId10"/>
    <p:sldId id="285" r:id="rId11"/>
    <p:sldId id="286" r:id="rId12"/>
    <p:sldId id="283" r:id="rId13"/>
    <p:sldId id="298" r:id="rId14"/>
    <p:sldId id="291" r:id="rId15"/>
    <p:sldId id="304" r:id="rId16"/>
    <p:sldId id="305" r:id="rId17"/>
    <p:sldId id="306" r:id="rId18"/>
    <p:sldId id="274" r:id="rId19"/>
    <p:sldId id="279" r:id="rId20"/>
    <p:sldId id="289" r:id="rId21"/>
    <p:sldId id="288" r:id="rId22"/>
    <p:sldId id="299" r:id="rId23"/>
    <p:sldId id="302" r:id="rId24"/>
    <p:sldId id="303" r:id="rId25"/>
    <p:sldId id="301" r:id="rId26"/>
    <p:sldId id="295" r:id="rId27"/>
    <p:sldId id="294" r:id="rId28"/>
    <p:sldId id="293" r:id="rId29"/>
    <p:sldId id="292" r:id="rId30"/>
    <p:sldId id="259" r:id="rId31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93296810-A885-4BE3-A3E7-6D5BEEA58F35}" styleName="Medium Style 2 - Accent 6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6">
              <a:tint val="20000"/>
            </a:schemeClr>
          </a:solidFill>
        </a:fill>
      </a:tcStyle>
    </a:wholeTbl>
    <a:band1H>
      <a:tcStyle>
        <a:tcBdr/>
        <a:fill>
          <a:solidFill>
            <a:schemeClr val="accent6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6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6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6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6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6"/>
          </a:solidFill>
        </a:fill>
      </a:tcStyle>
    </a:firstRow>
  </a:tblStyle>
  <a:tblStyle styleId="{22838BEF-8BB2-4498-84A7-C5851F593DF1}" styleName="Medium Style 4 - Accent 5">
    <a:wholeTbl>
      <a:tcTxStyle>
        <a:fontRef idx="minor">
          <a:scrgbClr r="0" g="0" b="0"/>
        </a:fontRef>
        <a:schemeClr val="dk1"/>
      </a:tcTxStyle>
      <a:tcStyle>
        <a:tcBdr>
          <a:left>
            <a:ln w="12700" cmpd="sng">
              <a:solidFill>
                <a:schemeClr val="accent5"/>
              </a:solidFill>
            </a:ln>
          </a:left>
          <a:right>
            <a:ln w="12700" cmpd="sng">
              <a:solidFill>
                <a:schemeClr val="accent5"/>
              </a:solidFill>
            </a:ln>
          </a:right>
          <a:top>
            <a:ln w="12700" cmpd="sng">
              <a:solidFill>
                <a:schemeClr val="accent5"/>
              </a:solidFill>
            </a:ln>
          </a:top>
          <a:bottom>
            <a:ln w="12700" cmpd="sng">
              <a:solidFill>
                <a:schemeClr val="accent5"/>
              </a:solidFill>
            </a:ln>
          </a:bottom>
          <a:insideH>
            <a:ln w="12700" cmpd="sng">
              <a:solidFill>
                <a:schemeClr val="accent5"/>
              </a:solidFill>
            </a:ln>
          </a:insideH>
          <a:insideV>
            <a:ln w="12700" cmpd="sng">
              <a:solidFill>
                <a:schemeClr val="accent5"/>
              </a:solidFill>
            </a:ln>
          </a:insideV>
        </a:tcBdr>
        <a:fill>
          <a:solidFill>
            <a:schemeClr val="accent5">
              <a:tint val="20000"/>
            </a:schemeClr>
          </a:solidFill>
        </a:fill>
      </a:tcStyle>
    </a:wholeTbl>
    <a:band1H>
      <a:tcStyle>
        <a:tcBdr/>
        <a:fill>
          <a:solidFill>
            <a:schemeClr val="accent5">
              <a:tint val="40000"/>
            </a:schemeClr>
          </a:solidFill>
        </a:fill>
      </a:tcStyle>
    </a:band1H>
    <a:band1V>
      <a:tcStyle>
        <a:tcBdr/>
        <a:fill>
          <a:solidFill>
            <a:schemeClr val="accent5">
              <a:tint val="4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25400" cmpd="sng">
              <a:solidFill>
                <a:schemeClr val="accent5"/>
              </a:solidFill>
            </a:ln>
          </a:top>
        </a:tcBdr>
        <a:fill>
          <a:solidFill>
            <a:schemeClr val="accent5">
              <a:tint val="20000"/>
            </a:schemeClr>
          </a:solidFill>
        </a:fill>
      </a:tcStyle>
    </a:lastRow>
    <a:firstRow>
      <a:tcTxStyle b="on"/>
      <a:tcStyle>
        <a:tcBdr/>
        <a:fill>
          <a:solidFill>
            <a:schemeClr val="accent5">
              <a:tint val="20000"/>
            </a:schemeClr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>
      <p:cViewPr varScale="1">
        <p:scale>
          <a:sx n="85" d="100"/>
          <a:sy n="85" d="100"/>
        </p:scale>
        <p:origin x="1554" y="84"/>
      </p:cViewPr>
      <p:guideLst>
        <p:guide orient="horz" pos="2160"/>
        <p:guide pos="2880"/>
      </p:guideLst>
    </p:cSldViewPr>
  </p:slideViewPr>
  <p:notesTextViewPr>
    <p:cViewPr>
      <p:scale>
        <a:sx n="3" d="2"/>
        <a:sy n="3" d="2"/>
      </p:scale>
      <p:origin x="0" y="0"/>
    </p:cViewPr>
  </p:notesTextViewPr>
  <p:sorterViewPr>
    <p:cViewPr varScale="1">
      <p:scale>
        <a:sx n="1" d="1"/>
        <a:sy n="1" d="1"/>
      </p:scale>
      <p:origin x="0" y="-1872"/>
    </p:cViewPr>
  </p:sorterViewPr>
  <p:gridSpacing cx="76200" cy="76200"/>
</p:viewPr>
</file>

<file path=ppt/_rels/presentation.xml.rels><?xml version="1.0" encoding="UTF-8" standalone="yes"?>
<Relationships xmlns="http://schemas.openxmlformats.org/package/2006/relationships"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slide" Target="slides/slide25.xml"/><Relationship Id="rId3" Type="http://schemas.openxmlformats.org/officeDocument/2006/relationships/slide" Target="slides/slide2.xml"/><Relationship Id="rId21" Type="http://schemas.openxmlformats.org/officeDocument/2006/relationships/slide" Target="slides/slide20.xml"/><Relationship Id="rId34" Type="http://schemas.openxmlformats.org/officeDocument/2006/relationships/theme" Target="theme/theme1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33" Type="http://schemas.openxmlformats.org/officeDocument/2006/relationships/viewProps" Target="viewProps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29" Type="http://schemas.openxmlformats.org/officeDocument/2006/relationships/slide" Target="slides/slide28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32" Type="http://schemas.openxmlformats.org/officeDocument/2006/relationships/presProps" Target="presProps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slide" Target="slides/slide27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31" Type="http://schemas.openxmlformats.org/officeDocument/2006/relationships/slide" Target="slides/slide30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slide" Target="slides/slide26.xml"/><Relationship Id="rId30" Type="http://schemas.openxmlformats.org/officeDocument/2006/relationships/slide" Target="slides/slide29.xml"/><Relationship Id="rId35" Type="http://schemas.openxmlformats.org/officeDocument/2006/relationships/tableStyles" Target="tableStyles.xml"/><Relationship Id="rId8" Type="http://schemas.openxmlformats.org/officeDocument/2006/relationships/slide" Target="slides/slide7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2396319" y="802299"/>
            <a:ext cx="5618515" cy="2541431"/>
          </a:xfrm>
        </p:spPr>
        <p:txBody>
          <a:bodyPr bIns="0" anchor="b">
            <a:normAutofit/>
          </a:bodyPr>
          <a:lstStyle>
            <a:lvl1pPr algn="l">
              <a:defRPr sz="54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2396319" y="3531205"/>
            <a:ext cx="5618515" cy="977621"/>
          </a:xfrm>
        </p:spPr>
        <p:txBody>
          <a:bodyPr tIns="91440" bIns="91440">
            <a:normAutofit/>
          </a:bodyPr>
          <a:lstStyle>
            <a:lvl1pPr marL="0" indent="0" algn="l">
              <a:buNone/>
              <a:defRPr sz="1600" b="0" cap="all" baseline="0">
                <a:solidFill>
                  <a:schemeClr val="tx1"/>
                </a:solidFill>
              </a:defRPr>
            </a:lvl1pPr>
            <a:lvl2pPr marL="342900" indent="0" algn="ctr">
              <a:buNone/>
              <a:defRPr sz="1500"/>
            </a:lvl2pPr>
            <a:lvl3pPr marL="685800" indent="0" algn="ctr">
              <a:buNone/>
              <a:defRPr sz="1350"/>
            </a:lvl3pPr>
            <a:lvl4pPr marL="1028700" indent="0" algn="ctr">
              <a:buNone/>
              <a:defRPr sz="1200"/>
            </a:lvl4pPr>
            <a:lvl5pPr marL="1371600" indent="0" algn="ctr">
              <a:buNone/>
              <a:defRPr sz="1200"/>
            </a:lvl5pPr>
            <a:lvl6pPr marL="1714500" indent="0" algn="ctr">
              <a:buNone/>
              <a:defRPr sz="1200"/>
            </a:lvl6pPr>
            <a:lvl7pPr marL="2057400" indent="0" algn="ctr">
              <a:buNone/>
              <a:defRPr sz="1200"/>
            </a:lvl7pPr>
            <a:lvl8pPr marL="2400300" indent="0" algn="ctr">
              <a:buNone/>
              <a:defRPr sz="1200"/>
            </a:lvl8pPr>
            <a:lvl9pPr marL="2743200" indent="0" algn="ctr">
              <a:buNone/>
              <a:defRPr sz="1200"/>
            </a:lvl9pPr>
          </a:lstStyle>
          <a:p>
            <a:r>
              <a:rPr lang="en-US"/>
              <a:t>Click to edit Master subtitle style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7526500-629D-47BC-8461-51DB9CD5AFB5}" type="datetimeFigureOut">
              <a:rPr lang="en-US" smtClean="0"/>
              <a:t>4/24/2023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>
          <a:xfrm>
            <a:off x="2396319" y="329308"/>
            <a:ext cx="3086292" cy="309201"/>
          </a:xfrm>
        </p:spPr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1434703" y="798973"/>
            <a:ext cx="802005" cy="503578"/>
          </a:xfrm>
        </p:spPr>
        <p:txBody>
          <a:bodyPr/>
          <a:lstStyle/>
          <a:p>
            <a:fld id="{E2EB904F-11C3-4842-8628-B453BBA11D8C}" type="slidenum">
              <a:rPr lang="en-US" smtClean="0"/>
              <a:t>‹#›</a:t>
            </a:fld>
            <a:endParaRPr lang="en-US"/>
          </a:p>
        </p:txBody>
      </p:sp>
      <p:cxnSp>
        <p:nvCxnSpPr>
          <p:cNvPr id="15" name="Straight Connector 14"/>
          <p:cNvCxnSpPr/>
          <p:nvPr/>
        </p:nvCxnSpPr>
        <p:spPr>
          <a:xfrm>
            <a:off x="2396319" y="3528542"/>
            <a:ext cx="5618515" cy="0"/>
          </a:xfrm>
          <a:prstGeom prst="line">
            <a:avLst/>
          </a:prstGeom>
          <a:ln w="31750"/>
        </p:spPr>
        <p:style>
          <a:lnRef idx="3">
            <a:schemeClr val="accent1"/>
          </a:lnRef>
          <a:fillRef idx="0">
            <a:schemeClr val="accent1"/>
          </a:fillRef>
          <a:effectRef idx="2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2654197036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 anchor="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7526500-629D-47BC-8461-51DB9CD5AFB5}" type="datetimeFigureOut">
              <a:rPr lang="en-US" smtClean="0"/>
              <a:t>4/24/2023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2EB904F-11C3-4842-8628-B453BBA11D8C}" type="slidenum">
              <a:rPr lang="en-US" smtClean="0"/>
              <a:t>‹#›</a:t>
            </a:fld>
            <a:endParaRPr lang="en-US"/>
          </a:p>
        </p:txBody>
      </p:sp>
      <p:cxnSp>
        <p:nvCxnSpPr>
          <p:cNvPr id="33" name="Straight Connector 32"/>
          <p:cNvCxnSpPr/>
          <p:nvPr/>
        </p:nvCxnSpPr>
        <p:spPr>
          <a:xfrm>
            <a:off x="1443491" y="1847088"/>
            <a:ext cx="6571343" cy="0"/>
          </a:xfrm>
          <a:prstGeom prst="line">
            <a:avLst/>
          </a:prstGeom>
          <a:ln w="31750"/>
        </p:spPr>
        <p:style>
          <a:lnRef idx="3">
            <a:schemeClr val="accent1"/>
          </a:lnRef>
          <a:fillRef idx="0">
            <a:schemeClr val="accent1"/>
          </a:fillRef>
          <a:effectRef idx="2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368301876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443491" y="1756130"/>
            <a:ext cx="5617002" cy="1887950"/>
          </a:xfrm>
        </p:spPr>
        <p:txBody>
          <a:bodyPr anchor="b">
            <a:normAutofit/>
          </a:bodyPr>
          <a:lstStyle>
            <a:lvl1pPr algn="l">
              <a:defRPr sz="32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443492" y="3806196"/>
            <a:ext cx="5617002" cy="1012929"/>
          </a:xfrm>
        </p:spPr>
        <p:txBody>
          <a:bodyPr tIns="91440">
            <a:normAutofit/>
          </a:bodyPr>
          <a:lstStyle>
            <a:lvl1pPr marL="0" indent="0" algn="l">
              <a:buNone/>
              <a:defRPr sz="1800">
                <a:solidFill>
                  <a:schemeClr val="tx1"/>
                </a:solidFill>
              </a:defRPr>
            </a:lvl1pPr>
            <a:lvl2pPr marL="342900" indent="0">
              <a:buNone/>
              <a:defRPr sz="1500">
                <a:solidFill>
                  <a:schemeClr val="tx1">
                    <a:tint val="75000"/>
                  </a:schemeClr>
                </a:solidFill>
              </a:defRPr>
            </a:lvl2pPr>
            <a:lvl3pPr marL="685800" indent="0">
              <a:buNone/>
              <a:defRPr sz="1350">
                <a:solidFill>
                  <a:schemeClr val="tx1">
                    <a:tint val="75000"/>
                  </a:schemeClr>
                </a:solidFill>
              </a:defRPr>
            </a:lvl3pPr>
            <a:lvl4pPr marL="10287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4pPr>
            <a:lvl5pPr marL="13716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5pPr>
            <a:lvl6pPr marL="17145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6pPr>
            <a:lvl7pPr marL="20574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7pPr>
            <a:lvl8pPr marL="24003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8pPr>
            <a:lvl9pPr marL="27432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7526500-629D-47BC-8461-51DB9CD5AFB5}" type="datetimeFigureOut">
              <a:rPr lang="en-US" smtClean="0"/>
              <a:t>4/24/2023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2EB904F-11C3-4842-8628-B453BBA11D8C}" type="slidenum">
              <a:rPr lang="en-US" smtClean="0"/>
              <a:t>‹#›</a:t>
            </a:fld>
            <a:endParaRPr lang="en-US"/>
          </a:p>
        </p:txBody>
      </p:sp>
      <p:cxnSp>
        <p:nvCxnSpPr>
          <p:cNvPr id="15" name="Straight Connector 14"/>
          <p:cNvCxnSpPr/>
          <p:nvPr/>
        </p:nvCxnSpPr>
        <p:spPr>
          <a:xfrm>
            <a:off x="1443491" y="3804985"/>
            <a:ext cx="5617002" cy="0"/>
          </a:xfrm>
          <a:prstGeom prst="line">
            <a:avLst/>
          </a:prstGeom>
          <a:ln w="31750"/>
        </p:spPr>
        <p:style>
          <a:lnRef idx="3">
            <a:schemeClr val="accent1"/>
          </a:lnRef>
          <a:fillRef idx="0">
            <a:schemeClr val="accent1"/>
          </a:fillRef>
          <a:effectRef idx="2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3619244538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443491" y="804890"/>
            <a:ext cx="6571343" cy="1059305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1443490" y="2013936"/>
            <a:ext cx="3125871" cy="3437560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889182" y="2013936"/>
            <a:ext cx="3125652" cy="3437559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7526500-629D-47BC-8461-51DB9CD5AFB5}" type="datetimeFigureOut">
              <a:rPr lang="en-US" smtClean="0"/>
              <a:t>4/24/2023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2EB904F-11C3-4842-8628-B453BBA11D8C}" type="slidenum">
              <a:rPr lang="en-US" smtClean="0"/>
              <a:t>‹#›</a:t>
            </a:fld>
            <a:endParaRPr lang="en-US"/>
          </a:p>
        </p:txBody>
      </p:sp>
      <p:cxnSp>
        <p:nvCxnSpPr>
          <p:cNvPr id="33" name="Straight Connector 32"/>
          <p:cNvCxnSpPr/>
          <p:nvPr/>
        </p:nvCxnSpPr>
        <p:spPr>
          <a:xfrm>
            <a:off x="1443491" y="1847088"/>
            <a:ext cx="6571343" cy="0"/>
          </a:xfrm>
          <a:prstGeom prst="line">
            <a:avLst/>
          </a:prstGeom>
          <a:ln w="31750"/>
        </p:spPr>
        <p:style>
          <a:lnRef idx="3">
            <a:schemeClr val="accent1"/>
          </a:lnRef>
          <a:fillRef idx="0">
            <a:schemeClr val="accent1"/>
          </a:fillRef>
          <a:effectRef idx="2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3191588114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36" name="Straight Connector 35"/>
          <p:cNvCxnSpPr/>
          <p:nvPr/>
        </p:nvCxnSpPr>
        <p:spPr>
          <a:xfrm>
            <a:off x="1443491" y="1847088"/>
            <a:ext cx="6571343" cy="0"/>
          </a:xfrm>
          <a:prstGeom prst="line">
            <a:avLst/>
          </a:prstGeom>
          <a:ln w="31750"/>
        </p:spPr>
        <p:style>
          <a:lnRef idx="3">
            <a:schemeClr val="accent1"/>
          </a:lnRef>
          <a:fillRef idx="0">
            <a:schemeClr val="accent1"/>
          </a:fillRef>
          <a:effectRef idx="2">
            <a:schemeClr val="accent1"/>
          </a:effectRef>
          <a:fontRef idx="minor">
            <a:schemeClr val="tx1"/>
          </a:fontRef>
        </p:style>
      </p:cxn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443491" y="804164"/>
            <a:ext cx="6571344" cy="1056319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443491" y="2019550"/>
            <a:ext cx="3125766" cy="801943"/>
          </a:xfrm>
        </p:spPr>
        <p:txBody>
          <a:bodyPr anchor="b">
            <a:normAutofit/>
          </a:bodyPr>
          <a:lstStyle>
            <a:lvl1pPr marL="0" indent="0">
              <a:lnSpc>
                <a:spcPct val="100000"/>
              </a:lnSpc>
              <a:buNone/>
              <a:defRPr sz="2200" b="0" cap="all" baseline="0">
                <a:solidFill>
                  <a:schemeClr val="accent1"/>
                </a:solidFill>
              </a:defRPr>
            </a:lvl1pPr>
            <a:lvl2pPr marL="342900" indent="0">
              <a:buNone/>
              <a:defRPr sz="1500" b="1"/>
            </a:lvl2pPr>
            <a:lvl3pPr marL="685800" indent="0">
              <a:buNone/>
              <a:defRPr sz="1350" b="1"/>
            </a:lvl3pPr>
            <a:lvl4pPr marL="1028700" indent="0">
              <a:buNone/>
              <a:defRPr sz="1200" b="1"/>
            </a:lvl4pPr>
            <a:lvl5pPr marL="1371600" indent="0">
              <a:buNone/>
              <a:defRPr sz="1200" b="1"/>
            </a:lvl5pPr>
            <a:lvl6pPr marL="1714500" indent="0">
              <a:buNone/>
              <a:defRPr sz="1200" b="1"/>
            </a:lvl6pPr>
            <a:lvl7pPr marL="2057400" indent="0">
              <a:buNone/>
              <a:defRPr sz="1200" b="1"/>
            </a:lvl7pPr>
            <a:lvl8pPr marL="2400300" indent="0">
              <a:buNone/>
              <a:defRPr sz="1200" b="1"/>
            </a:lvl8pPr>
            <a:lvl9pPr marL="2743200" indent="0">
              <a:buNone/>
              <a:defRPr sz="12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1443491" y="2824270"/>
            <a:ext cx="3125766" cy="2644457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889182" y="2023004"/>
            <a:ext cx="3125652" cy="802237"/>
          </a:xfrm>
        </p:spPr>
        <p:txBody>
          <a:bodyPr anchor="b">
            <a:normAutofit/>
          </a:bodyPr>
          <a:lstStyle>
            <a:lvl1pPr marL="0" indent="0">
              <a:lnSpc>
                <a:spcPct val="100000"/>
              </a:lnSpc>
              <a:buNone/>
              <a:defRPr sz="2200" b="0" cap="all" baseline="0">
                <a:solidFill>
                  <a:schemeClr val="accent1"/>
                </a:solidFill>
              </a:defRPr>
            </a:lvl1pPr>
            <a:lvl2pPr marL="342900" indent="0">
              <a:buNone/>
              <a:defRPr sz="1500" b="1"/>
            </a:lvl2pPr>
            <a:lvl3pPr marL="685800" indent="0">
              <a:buNone/>
              <a:defRPr sz="1350" b="1"/>
            </a:lvl3pPr>
            <a:lvl4pPr marL="1028700" indent="0">
              <a:buNone/>
              <a:defRPr sz="1200" b="1"/>
            </a:lvl4pPr>
            <a:lvl5pPr marL="1371600" indent="0">
              <a:buNone/>
              <a:defRPr sz="1200" b="1"/>
            </a:lvl5pPr>
            <a:lvl6pPr marL="1714500" indent="0">
              <a:buNone/>
              <a:defRPr sz="1200" b="1"/>
            </a:lvl6pPr>
            <a:lvl7pPr marL="2057400" indent="0">
              <a:buNone/>
              <a:defRPr sz="1200" b="1"/>
            </a:lvl7pPr>
            <a:lvl8pPr marL="2400300" indent="0">
              <a:buNone/>
              <a:defRPr sz="1200" b="1"/>
            </a:lvl8pPr>
            <a:lvl9pPr marL="2743200" indent="0">
              <a:buNone/>
              <a:defRPr sz="12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889182" y="2821491"/>
            <a:ext cx="3125652" cy="2637371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7526500-629D-47BC-8461-51DB9CD5AFB5}" type="datetimeFigureOut">
              <a:rPr lang="en-US" smtClean="0"/>
              <a:t>4/24/2023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2EB904F-11C3-4842-8628-B453BBA11D8C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829863773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32" name="Straight Connector 31"/>
          <p:cNvCxnSpPr/>
          <p:nvPr/>
        </p:nvCxnSpPr>
        <p:spPr>
          <a:xfrm>
            <a:off x="1443491" y="1847088"/>
            <a:ext cx="6571343" cy="0"/>
          </a:xfrm>
          <a:prstGeom prst="line">
            <a:avLst/>
          </a:prstGeom>
          <a:ln w="31750"/>
        </p:spPr>
        <p:style>
          <a:lnRef idx="3">
            <a:schemeClr val="accent1"/>
          </a:lnRef>
          <a:fillRef idx="0">
            <a:schemeClr val="accent1"/>
          </a:fillRef>
          <a:effectRef idx="2">
            <a:schemeClr val="accent1"/>
          </a:effectRef>
          <a:fontRef idx="minor">
            <a:schemeClr val="tx1"/>
          </a:fontRef>
        </p:style>
      </p:cxnSp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7526500-629D-47BC-8461-51DB9CD5AFB5}" type="datetimeFigureOut">
              <a:rPr lang="en-US" smtClean="0"/>
              <a:t>4/24/2023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2EB904F-11C3-4842-8628-B453BBA11D8C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777796796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7526500-629D-47BC-8461-51DB9CD5AFB5}" type="datetimeFigureOut">
              <a:rPr lang="en-US" smtClean="0"/>
              <a:t>4/24/2023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2EB904F-11C3-4842-8628-B453BBA11D8C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971433930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439042" y="798973"/>
            <a:ext cx="2425950" cy="2247117"/>
          </a:xfrm>
        </p:spPr>
        <p:txBody>
          <a:bodyPr anchor="b">
            <a:normAutofit/>
          </a:bodyPr>
          <a:lstStyle>
            <a:lvl1pPr algn="l">
              <a:defRPr sz="24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186656" y="798974"/>
            <a:ext cx="3828178" cy="4658826"/>
          </a:xfrm>
        </p:spPr>
        <p:txBody>
          <a:bodyPr anchor="ctr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439042" y="3205492"/>
            <a:ext cx="2427369" cy="2248181"/>
          </a:xfrm>
        </p:spPr>
        <p:txBody>
          <a:bodyPr>
            <a:normAutofit/>
          </a:bodyPr>
          <a:lstStyle>
            <a:lvl1pPr marL="0" indent="0" algn="l">
              <a:buNone/>
              <a:defRPr sz="1600"/>
            </a:lvl1pPr>
            <a:lvl2pPr marL="342900" indent="0">
              <a:buNone/>
              <a:defRPr sz="1050"/>
            </a:lvl2pPr>
            <a:lvl3pPr marL="685800" indent="0">
              <a:buNone/>
              <a:defRPr sz="900"/>
            </a:lvl3pPr>
            <a:lvl4pPr marL="1028700" indent="0">
              <a:buNone/>
              <a:defRPr sz="750"/>
            </a:lvl4pPr>
            <a:lvl5pPr marL="1371600" indent="0">
              <a:buNone/>
              <a:defRPr sz="750"/>
            </a:lvl5pPr>
            <a:lvl6pPr marL="1714500" indent="0">
              <a:buNone/>
              <a:defRPr sz="750"/>
            </a:lvl6pPr>
            <a:lvl7pPr marL="2057400" indent="0">
              <a:buNone/>
              <a:defRPr sz="750"/>
            </a:lvl7pPr>
            <a:lvl8pPr marL="2400300" indent="0">
              <a:buNone/>
              <a:defRPr sz="750"/>
            </a:lvl8pPr>
            <a:lvl9pPr marL="2743200" indent="0">
              <a:buNone/>
              <a:defRPr sz="75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7526500-629D-47BC-8461-51DB9CD5AFB5}" type="datetimeFigureOut">
              <a:rPr lang="en-US" smtClean="0"/>
              <a:t>4/24/2023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2EB904F-11C3-4842-8628-B453BBA11D8C}" type="slidenum">
              <a:rPr lang="en-US" smtClean="0"/>
              <a:t>‹#›</a:t>
            </a:fld>
            <a:endParaRPr lang="en-US"/>
          </a:p>
        </p:txBody>
      </p:sp>
      <p:cxnSp>
        <p:nvCxnSpPr>
          <p:cNvPr id="17" name="Straight Connector 16"/>
          <p:cNvCxnSpPr/>
          <p:nvPr/>
        </p:nvCxnSpPr>
        <p:spPr>
          <a:xfrm>
            <a:off x="1441748" y="3205491"/>
            <a:ext cx="2423276" cy="0"/>
          </a:xfrm>
          <a:prstGeom prst="line">
            <a:avLst/>
          </a:prstGeom>
          <a:ln w="31750"/>
        </p:spPr>
        <p:style>
          <a:lnRef idx="3">
            <a:schemeClr val="accent1"/>
          </a:lnRef>
          <a:fillRef idx="0">
            <a:schemeClr val="accent1"/>
          </a:fillRef>
          <a:effectRef idx="2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1696256593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3" name="Group 12"/>
          <p:cNvGrpSpPr/>
          <p:nvPr/>
        </p:nvGrpSpPr>
        <p:grpSpPr>
          <a:xfrm>
            <a:off x="4996501" y="482171"/>
            <a:ext cx="3511387" cy="5149101"/>
            <a:chOff x="6852919" y="583365"/>
            <a:chExt cx="4681849" cy="5181928"/>
          </a:xfrm>
        </p:grpSpPr>
        <p:sp>
          <p:nvSpPr>
            <p:cNvPr id="14" name="Rectangle 13"/>
            <p:cNvSpPr/>
            <p:nvPr/>
          </p:nvSpPr>
          <p:spPr>
            <a:xfrm>
              <a:off x="6852919" y="583365"/>
              <a:ext cx="4681849" cy="5181928"/>
            </a:xfrm>
            <a:prstGeom prst="rect">
              <a:avLst/>
            </a:prstGeom>
            <a:gradFill>
              <a:gsLst>
                <a:gs pos="0">
                  <a:srgbClr val="000001"/>
                </a:gs>
                <a:gs pos="100000">
                  <a:srgbClr val="191919"/>
                </a:gs>
              </a:gsLst>
            </a:gradFill>
            <a:ln w="76200" cmpd="sng">
              <a:noFill/>
              <a:miter lim="800000"/>
            </a:ln>
            <a:effectLst>
              <a:outerShdw blurRad="127000" dist="228600" dir="4740000" sx="98000" sy="98000" algn="tl" rotWithShape="0">
                <a:srgbClr val="000000">
                  <a:alpha val="34000"/>
                </a:srgbClr>
              </a:outerShdw>
            </a:effectLst>
            <a:scene3d>
              <a:camera prst="orthographicFront"/>
              <a:lightRig rig="threePt" dir="t"/>
            </a:scene3d>
            <a:sp3d>
              <a:bevelT w="152400" h="50800" prst="softRound"/>
            </a:sp3d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5" name="Rectangle 14"/>
            <p:cNvSpPr/>
            <p:nvPr/>
          </p:nvSpPr>
          <p:spPr>
            <a:xfrm>
              <a:off x="7273787" y="915806"/>
              <a:ext cx="3844017" cy="4507918"/>
            </a:xfrm>
            <a:prstGeom prst="rect">
              <a:avLst/>
            </a:prstGeom>
            <a:gradFill>
              <a:gsLst>
                <a:gs pos="0">
                  <a:srgbClr val="DADADA"/>
                </a:gs>
                <a:gs pos="100000">
                  <a:srgbClr val="FFFFFE"/>
                </a:gs>
              </a:gsLst>
              <a:lin ang="16200000" scaled="0"/>
            </a:gradFill>
            <a:ln w="50800" cmpd="sng">
              <a:solidFill>
                <a:srgbClr val="191919"/>
              </a:solidFill>
              <a:miter lim="800000"/>
            </a:ln>
            <a:effectLst>
              <a:innerShdw blurRad="63500" dist="88900" dir="14100000">
                <a:srgbClr val="000000">
                  <a:alpha val="30000"/>
                </a:srgbClr>
              </a:innerShdw>
            </a:effectLst>
            <a:scene3d>
              <a:camera prst="orthographicFront"/>
              <a:lightRig rig="threePt" dir="t"/>
            </a:scene3d>
            <a:sp3d>
              <a:bevelT prst="relaxedInset"/>
            </a:sp3d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</p:grp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444148" y="1129513"/>
            <a:ext cx="3244935" cy="1830584"/>
          </a:xfrm>
        </p:spPr>
        <p:txBody>
          <a:bodyPr anchor="b">
            <a:normAutofit/>
          </a:bodyPr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5640128" y="1122543"/>
            <a:ext cx="2234998" cy="3866327"/>
          </a:xfrm>
          <a:solidFill>
            <a:schemeClr val="bg1">
              <a:lumMod val="85000"/>
            </a:schemeClr>
          </a:solidFill>
          <a:ln w="9525" cap="sq">
            <a:noFill/>
            <a:miter lim="800000"/>
          </a:ln>
          <a:effectLst/>
        </p:spPr>
        <p:txBody>
          <a:bodyPr anchor="t"/>
          <a:lstStyle>
            <a:lvl1pPr marL="0" indent="0" algn="ctr">
              <a:buNone/>
              <a:defRPr sz="2400"/>
            </a:lvl1pPr>
            <a:lvl2pPr marL="342900" indent="0">
              <a:buNone/>
              <a:defRPr sz="2100"/>
            </a:lvl2pPr>
            <a:lvl3pPr marL="685800" indent="0">
              <a:buNone/>
              <a:defRPr sz="1800"/>
            </a:lvl3pPr>
            <a:lvl4pPr marL="1028700" indent="0">
              <a:buNone/>
              <a:defRPr sz="1500"/>
            </a:lvl4pPr>
            <a:lvl5pPr marL="1371600" indent="0">
              <a:buNone/>
              <a:defRPr sz="1500"/>
            </a:lvl5pPr>
            <a:lvl6pPr marL="1714500" indent="0">
              <a:buNone/>
              <a:defRPr sz="1500"/>
            </a:lvl6pPr>
            <a:lvl7pPr marL="2057400" indent="0">
              <a:buNone/>
              <a:defRPr sz="1500"/>
            </a:lvl7pPr>
            <a:lvl8pPr marL="2400300" indent="0">
              <a:buNone/>
              <a:defRPr sz="1500"/>
            </a:lvl8pPr>
            <a:lvl9pPr marL="2743200" indent="0">
              <a:buNone/>
              <a:defRPr sz="15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443492" y="3145992"/>
            <a:ext cx="3240286" cy="2003742"/>
          </a:xfrm>
        </p:spPr>
        <p:txBody>
          <a:bodyPr>
            <a:normAutofit/>
          </a:bodyPr>
          <a:lstStyle>
            <a:lvl1pPr marL="0" indent="0" algn="l">
              <a:buNone/>
              <a:defRPr sz="1800"/>
            </a:lvl1pPr>
            <a:lvl2pPr marL="342900" indent="0">
              <a:buNone/>
              <a:defRPr sz="1050"/>
            </a:lvl2pPr>
            <a:lvl3pPr marL="685800" indent="0">
              <a:buNone/>
              <a:defRPr sz="900"/>
            </a:lvl3pPr>
            <a:lvl4pPr marL="1028700" indent="0">
              <a:buNone/>
              <a:defRPr sz="750"/>
            </a:lvl4pPr>
            <a:lvl5pPr marL="1371600" indent="0">
              <a:buNone/>
              <a:defRPr sz="750"/>
            </a:lvl5pPr>
            <a:lvl6pPr marL="1714500" indent="0">
              <a:buNone/>
              <a:defRPr sz="750"/>
            </a:lvl6pPr>
            <a:lvl7pPr marL="2057400" indent="0">
              <a:buNone/>
              <a:defRPr sz="750"/>
            </a:lvl7pPr>
            <a:lvl8pPr marL="2400300" indent="0">
              <a:buNone/>
              <a:defRPr sz="750"/>
            </a:lvl8pPr>
            <a:lvl9pPr marL="2743200" indent="0">
              <a:buNone/>
              <a:defRPr sz="75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>
          <a:xfrm>
            <a:off x="1436664" y="5469857"/>
            <a:ext cx="3252420" cy="320123"/>
          </a:xfrm>
        </p:spPr>
        <p:txBody>
          <a:bodyPr/>
          <a:lstStyle>
            <a:lvl1pPr algn="l">
              <a:defRPr/>
            </a:lvl1pPr>
          </a:lstStyle>
          <a:p>
            <a:fld id="{B7526500-629D-47BC-8461-51DB9CD5AFB5}" type="datetimeFigureOut">
              <a:rPr lang="en-US" smtClean="0"/>
              <a:t>4/24/2023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>
          <a:xfrm>
            <a:off x="1437530" y="318641"/>
            <a:ext cx="3251553" cy="320931"/>
          </a:xfrm>
        </p:spPr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2EB904F-11C3-4842-8628-B453BBA11D8C}" type="slidenum">
              <a:rPr lang="en-US" smtClean="0"/>
              <a:t>‹#›</a:t>
            </a:fld>
            <a:endParaRPr lang="en-US"/>
          </a:p>
        </p:txBody>
      </p:sp>
      <p:cxnSp>
        <p:nvCxnSpPr>
          <p:cNvPr id="31" name="Straight Connector 30"/>
          <p:cNvCxnSpPr/>
          <p:nvPr/>
        </p:nvCxnSpPr>
        <p:spPr>
          <a:xfrm>
            <a:off x="1441281" y="3143605"/>
            <a:ext cx="3242014" cy="0"/>
          </a:xfrm>
          <a:prstGeom prst="line">
            <a:avLst/>
          </a:prstGeom>
          <a:ln w="31750"/>
        </p:spPr>
        <p:style>
          <a:lnRef idx="3">
            <a:schemeClr val="accent1"/>
          </a:lnRef>
          <a:fillRef idx="0">
            <a:schemeClr val="accent1"/>
          </a:fillRef>
          <a:effectRef idx="2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564921421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33" name="Straight Connector 32"/>
          <p:cNvCxnSpPr/>
          <p:nvPr/>
        </p:nvCxnSpPr>
        <p:spPr>
          <a:xfrm>
            <a:off x="1443491" y="1847088"/>
            <a:ext cx="6571343" cy="0"/>
          </a:xfrm>
          <a:prstGeom prst="line">
            <a:avLst/>
          </a:prstGeom>
          <a:ln w="31750"/>
        </p:spPr>
        <p:style>
          <a:lnRef idx="3">
            <a:schemeClr val="accent1"/>
          </a:lnRef>
          <a:fillRef idx="0">
            <a:schemeClr val="accent1"/>
          </a:fillRef>
          <a:effectRef idx="2">
            <a:schemeClr val="accent1"/>
          </a:effectRef>
          <a:fontRef idx="minor">
            <a:schemeClr val="tx1"/>
          </a:fontRef>
        </p:style>
      </p:cxnSp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7526500-629D-47BC-8461-51DB9CD5AFB5}" type="datetimeFigureOut">
              <a:rPr lang="en-US" smtClean="0"/>
              <a:t>4/24/2023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2EB904F-11C3-4842-8628-B453BBA11D8C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78346537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918028" y="798974"/>
            <a:ext cx="1103027" cy="4659889"/>
          </a:xfrm>
        </p:spPr>
        <p:txBody>
          <a:bodyPr vert="eaVert"/>
          <a:lstStyle>
            <a:lvl1pPr algn="l">
              <a:defRPr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1443491" y="798974"/>
            <a:ext cx="5301095" cy="4659889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7526500-629D-47BC-8461-51DB9CD5AFB5}" type="datetimeFigureOut">
              <a:rPr lang="en-US" smtClean="0"/>
              <a:t>4/24/2023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2EB904F-11C3-4842-8628-B453BBA11D8C}" type="slidenum">
              <a:rPr lang="en-US" smtClean="0"/>
              <a:t>‹#›</a:t>
            </a:fld>
            <a:endParaRPr lang="en-US"/>
          </a:p>
        </p:txBody>
      </p:sp>
      <p:cxnSp>
        <p:nvCxnSpPr>
          <p:cNvPr id="15" name="Straight Connector 14"/>
          <p:cNvCxnSpPr/>
          <p:nvPr/>
        </p:nvCxnSpPr>
        <p:spPr>
          <a:xfrm>
            <a:off x="6918028" y="798974"/>
            <a:ext cx="0" cy="4659889"/>
          </a:xfrm>
          <a:prstGeom prst="line">
            <a:avLst/>
          </a:prstGeom>
          <a:ln w="31750"/>
        </p:spPr>
        <p:style>
          <a:lnRef idx="3">
            <a:schemeClr val="accent1"/>
          </a:lnRef>
          <a:fillRef idx="0">
            <a:schemeClr val="accent1"/>
          </a:fillRef>
          <a:effectRef idx="2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1678257958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type="obj">
  <p:cSld name="1_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12" name="Content Placeholder 2"/>
          <p:cNvSpPr>
            <a:spLocks noGrp="1"/>
          </p:cNvSpPr>
          <p:nvPr>
            <p:ph sz="quarter" idx="13"/>
          </p:nvPr>
        </p:nvSpPr>
        <p:spPr>
          <a:xfrm>
            <a:off x="685330" y="2367093"/>
            <a:ext cx="7772870" cy="3424107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7526500-629D-47BC-8461-51DB9CD5AFB5}" type="datetimeFigureOut">
              <a:rPr lang="en-US" smtClean="0"/>
              <a:t>4/24/2023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2EB904F-11C3-4842-8628-B453BBA11D8C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005960125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theme" Target="../theme/theme1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image" Target="../media/image1.jpg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3">
        <a:schemeClr val="bg2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Rectangle 9"/>
          <p:cNvSpPr/>
          <p:nvPr/>
        </p:nvSpPr>
        <p:spPr>
          <a:xfrm>
            <a:off x="0" y="2015734"/>
            <a:ext cx="9144000" cy="4079520"/>
          </a:xfrm>
          <a:prstGeom prst="rect">
            <a:avLst/>
          </a:prstGeom>
          <a:gradFill flip="none" rotWithShape="1">
            <a:gsLst>
              <a:gs pos="0">
                <a:schemeClr val="bg2">
                  <a:alpha val="0"/>
                </a:schemeClr>
              </a:gs>
              <a:gs pos="100000">
                <a:schemeClr val="bg2"/>
              </a:gs>
            </a:gsLst>
            <a:lin ang="5400000" scaled="0"/>
            <a:tileRect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pic>
        <p:nvPicPr>
          <p:cNvPr id="12" name="Picture 11"/>
          <p:cNvPicPr>
            <a:picLocks noChangeAspect="1"/>
          </p:cNvPicPr>
          <p:nvPr/>
        </p:nvPicPr>
        <p:blipFill rotWithShape="1">
          <a:blip r:embed="rId1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12500" t="1538" r="12500" b="-1538"/>
          <a:stretch/>
        </p:blipFill>
        <p:spPr>
          <a:xfrm>
            <a:off x="-1" y="6095253"/>
            <a:ext cx="9144001" cy="774727"/>
          </a:xfrm>
          <a:prstGeom prst="rect">
            <a:avLst/>
          </a:prstGeom>
        </p:spPr>
      </p:pic>
      <p:cxnSp>
        <p:nvCxnSpPr>
          <p:cNvPr id="13" name="Straight Connector 12"/>
          <p:cNvCxnSpPr/>
          <p:nvPr/>
        </p:nvCxnSpPr>
        <p:spPr>
          <a:xfrm>
            <a:off x="0" y="6101127"/>
            <a:ext cx="9144000" cy="0"/>
          </a:xfrm>
          <a:prstGeom prst="line">
            <a:avLst/>
          </a:prstGeom>
          <a:ln w="12700">
            <a:solidFill>
              <a:srgbClr val="000001">
                <a:alpha val="20000"/>
              </a:srgb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1443491" y="804520"/>
            <a:ext cx="6571343" cy="1049235"/>
          </a:xfrm>
          <a:prstGeom prst="rect">
            <a:avLst/>
          </a:prstGeom>
        </p:spPr>
        <p:txBody>
          <a:bodyPr vert="horz" lIns="91440" tIns="45720" rIns="91440" bIns="45720" rtlCol="0" anchor="t">
            <a:normAutofit/>
          </a:bodyPr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443491" y="2015733"/>
            <a:ext cx="6571343" cy="345061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5646542" y="330370"/>
            <a:ext cx="2368292" cy="309201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0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7526500-629D-47BC-8461-51DB9CD5AFB5}" type="datetimeFigureOut">
              <a:rPr lang="en-US" smtClean="0"/>
              <a:t>4/24/2023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1443491" y="329308"/>
            <a:ext cx="4034004" cy="309201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0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487725" y="798973"/>
            <a:ext cx="795746" cy="503578"/>
          </a:xfrm>
          <a:prstGeom prst="rect">
            <a:avLst/>
          </a:prstGeom>
        </p:spPr>
        <p:txBody>
          <a:bodyPr vert="horz" lIns="91440" tIns="45720" rIns="91440" bIns="45720" rtlCol="0" anchor="t"/>
          <a:lstStyle>
            <a:lvl1pPr algn="r">
              <a:defRPr sz="2800">
                <a:solidFill>
                  <a:schemeClr val="accent1"/>
                </a:solidFill>
              </a:defRPr>
            </a:lvl1pPr>
          </a:lstStyle>
          <a:p>
            <a:fld id="{E2EB904F-11C3-4842-8628-B453BBA11D8C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403749743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79" r:id="rId1"/>
    <p:sldLayoutId id="2147483680" r:id="rId2"/>
    <p:sldLayoutId id="2147483681" r:id="rId3"/>
    <p:sldLayoutId id="2147483682" r:id="rId4"/>
    <p:sldLayoutId id="2147483683" r:id="rId5"/>
    <p:sldLayoutId id="2147483684" r:id="rId6"/>
    <p:sldLayoutId id="2147483685" r:id="rId7"/>
    <p:sldLayoutId id="2147483686" r:id="rId8"/>
    <p:sldLayoutId id="2147483687" r:id="rId9"/>
    <p:sldLayoutId id="2147483688" r:id="rId10"/>
    <p:sldLayoutId id="2147483689" r:id="rId11"/>
    <p:sldLayoutId id="2147483690" r:id="rId12"/>
  </p:sldLayoutIdLst>
  <p:txStyles>
    <p:titleStyle>
      <a:lvl1pPr algn="l" defTabSz="685800" rtl="0" eaLnBrk="1" latinLnBrk="0" hangingPunct="1">
        <a:lnSpc>
          <a:spcPct val="90000"/>
        </a:lnSpc>
        <a:spcBef>
          <a:spcPct val="0"/>
        </a:spcBef>
        <a:buNone/>
        <a:defRPr sz="3200" b="0" i="0" kern="1200" cap="all">
          <a:solidFill>
            <a:schemeClr val="tx1"/>
          </a:solidFill>
          <a:effectLst/>
          <a:latin typeface="+mj-lt"/>
          <a:ea typeface="+mj-ea"/>
          <a:cs typeface="+mj-cs"/>
        </a:defRPr>
      </a:lvl1pPr>
    </p:titleStyle>
    <p:bodyStyle>
      <a:lvl1pPr marL="228600" indent="-228600" algn="l" defTabSz="685800" rtl="0" eaLnBrk="1" latinLnBrk="0" hangingPunct="1">
        <a:lnSpc>
          <a:spcPct val="120000"/>
        </a:lnSpc>
        <a:spcBef>
          <a:spcPts val="1000"/>
        </a:spcBef>
        <a:buClr>
          <a:schemeClr val="accent1"/>
        </a:buClr>
        <a:buSzPct val="100000"/>
        <a:buFont typeface="Arial" panose="020B0604020202020204" pitchFamily="34" charset="0"/>
        <a:buChar char="•"/>
        <a:defRPr sz="2000" kern="1200" cap="none">
          <a:solidFill>
            <a:schemeClr val="tx1"/>
          </a:solidFill>
          <a:effectLst/>
          <a:latin typeface="+mn-lt"/>
          <a:ea typeface="+mn-ea"/>
          <a:cs typeface="+mn-cs"/>
        </a:defRPr>
      </a:lvl1pPr>
      <a:lvl2pPr marL="685800" indent="-228600" algn="l" defTabSz="685800" rtl="0" eaLnBrk="1" latinLnBrk="0" hangingPunct="1">
        <a:lnSpc>
          <a:spcPct val="120000"/>
        </a:lnSpc>
        <a:spcBef>
          <a:spcPts val="500"/>
        </a:spcBef>
        <a:buClr>
          <a:schemeClr val="accent1"/>
        </a:buClr>
        <a:buSzPct val="100000"/>
        <a:buFont typeface="Arial" panose="020B0604020202020204" pitchFamily="34" charset="0"/>
        <a:buChar char="•"/>
        <a:defRPr sz="1600" kern="1200" cap="none" baseline="0">
          <a:solidFill>
            <a:schemeClr val="tx1"/>
          </a:solidFill>
          <a:effectLst/>
          <a:latin typeface="+mn-lt"/>
          <a:ea typeface="+mn-ea"/>
          <a:cs typeface="+mn-cs"/>
        </a:defRPr>
      </a:lvl2pPr>
      <a:lvl3pPr marL="1143000" indent="-228600" algn="l" defTabSz="685800" rtl="0" eaLnBrk="1" latinLnBrk="0" hangingPunct="1">
        <a:lnSpc>
          <a:spcPct val="120000"/>
        </a:lnSpc>
        <a:spcBef>
          <a:spcPts val="500"/>
        </a:spcBef>
        <a:buClr>
          <a:schemeClr val="accent1"/>
        </a:buClr>
        <a:buSzPct val="100000"/>
        <a:buFont typeface="Arial" panose="020B0604020202020204" pitchFamily="34" charset="0"/>
        <a:buChar char="•"/>
        <a:defRPr sz="1600" kern="1200" cap="none">
          <a:solidFill>
            <a:schemeClr val="tx1"/>
          </a:solidFill>
          <a:effectLst/>
          <a:latin typeface="+mn-lt"/>
          <a:ea typeface="+mn-ea"/>
          <a:cs typeface="+mn-cs"/>
        </a:defRPr>
      </a:lvl3pPr>
      <a:lvl4pPr marL="1600200" indent="-228600" algn="l" defTabSz="685800" rtl="0" eaLnBrk="1" latinLnBrk="0" hangingPunct="1">
        <a:lnSpc>
          <a:spcPct val="120000"/>
        </a:lnSpc>
        <a:spcBef>
          <a:spcPts val="500"/>
        </a:spcBef>
        <a:buClr>
          <a:schemeClr val="accent1"/>
        </a:buClr>
        <a:buSzPct val="100000"/>
        <a:buFont typeface="Arial" panose="020B0604020202020204" pitchFamily="34" charset="0"/>
        <a:buChar char="•"/>
        <a:defRPr sz="1400" kern="1200" cap="none" baseline="0">
          <a:solidFill>
            <a:schemeClr val="tx1"/>
          </a:solidFill>
          <a:effectLst/>
          <a:latin typeface="+mn-lt"/>
          <a:ea typeface="+mn-ea"/>
          <a:cs typeface="+mn-cs"/>
        </a:defRPr>
      </a:lvl4pPr>
      <a:lvl5pPr marL="2057400" indent="-228600" algn="l" defTabSz="685800" rtl="0" eaLnBrk="1" latinLnBrk="0" hangingPunct="1">
        <a:lnSpc>
          <a:spcPct val="120000"/>
        </a:lnSpc>
        <a:spcBef>
          <a:spcPts val="500"/>
        </a:spcBef>
        <a:buClr>
          <a:schemeClr val="accent1"/>
        </a:buClr>
        <a:buSzPct val="100000"/>
        <a:buFont typeface="Arial" panose="020B0604020202020204" pitchFamily="34" charset="0"/>
        <a:buChar char="•"/>
        <a:defRPr sz="1200" kern="1200" cap="none">
          <a:solidFill>
            <a:schemeClr val="tx1"/>
          </a:solidFill>
          <a:effectLst/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120000"/>
        </a:lnSpc>
        <a:spcBef>
          <a:spcPts val="500"/>
        </a:spcBef>
        <a:buClr>
          <a:schemeClr val="accent1"/>
        </a:buClr>
        <a:buSzPct val="100000"/>
        <a:buFont typeface="Arial" panose="020B0604020202020204" pitchFamily="34" charset="0"/>
        <a:buChar char="•"/>
        <a:defRPr sz="1200" kern="1200">
          <a:solidFill>
            <a:schemeClr val="tx1"/>
          </a:solidFill>
          <a:effectLst/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120000"/>
        </a:lnSpc>
        <a:spcBef>
          <a:spcPts val="500"/>
        </a:spcBef>
        <a:buClr>
          <a:schemeClr val="accent1"/>
        </a:buClr>
        <a:buSzPct val="100000"/>
        <a:buFont typeface="Arial" panose="020B0604020202020204" pitchFamily="34" charset="0"/>
        <a:buChar char="•"/>
        <a:defRPr sz="1200" kern="1200">
          <a:solidFill>
            <a:schemeClr val="tx1"/>
          </a:solidFill>
          <a:effectLst/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120000"/>
        </a:lnSpc>
        <a:spcBef>
          <a:spcPts val="500"/>
        </a:spcBef>
        <a:buClr>
          <a:schemeClr val="accent1"/>
        </a:buClr>
        <a:buSzPct val="100000"/>
        <a:buFont typeface="Arial" panose="020B0604020202020204" pitchFamily="34" charset="0"/>
        <a:buChar char="•"/>
        <a:defRPr sz="1200" kern="1200" baseline="0">
          <a:solidFill>
            <a:schemeClr val="tx1"/>
          </a:solidFill>
          <a:effectLst/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120000"/>
        </a:lnSpc>
        <a:spcBef>
          <a:spcPts val="500"/>
        </a:spcBef>
        <a:buClr>
          <a:schemeClr val="accent1"/>
        </a:buClr>
        <a:buSzPct val="100000"/>
        <a:buFont typeface="Arial" panose="020B0604020202020204" pitchFamily="34" charset="0"/>
        <a:buChar char="•"/>
        <a:defRPr sz="1200" kern="1200" baseline="0">
          <a:solidFill>
            <a:schemeClr val="tx1"/>
          </a:solidFill>
          <a:effectLst/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1pPr>
      <a:lvl2pPr marL="3429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2pPr>
      <a:lvl3pPr marL="6858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3pPr>
      <a:lvl4pPr marL="10287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4pPr>
      <a:lvl5pPr marL="13716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5pPr>
      <a:lvl6pPr marL="17145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6pPr>
      <a:lvl7pPr marL="20574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7pPr>
      <a:lvl8pPr marL="24003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8pPr>
      <a:lvl9pPr marL="27432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2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2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2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2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2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2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2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2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2.xml"/></Relationships>
</file>

<file path=ppt/slides/_rels/slide14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JPG"/><Relationship Id="rId2" Type="http://schemas.openxmlformats.org/officeDocument/2006/relationships/image" Target="../media/image2.JPG"/><Relationship Id="rId1" Type="http://schemas.openxmlformats.org/officeDocument/2006/relationships/slideLayout" Target="../slideLayouts/slideLayout12.xml"/></Relationships>
</file>

<file path=ppt/slides/_rels/slide15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JPG"/><Relationship Id="rId2" Type="http://schemas.openxmlformats.org/officeDocument/2006/relationships/image" Target="../media/image4.JPG"/><Relationship Id="rId1" Type="http://schemas.openxmlformats.org/officeDocument/2006/relationships/slideLayout" Target="../slideLayouts/slideLayout12.xml"/></Relationships>
</file>

<file path=ppt/slides/_rels/slide16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JPG"/><Relationship Id="rId2" Type="http://schemas.openxmlformats.org/officeDocument/2006/relationships/image" Target="../media/image6.JPG"/><Relationship Id="rId1" Type="http://schemas.openxmlformats.org/officeDocument/2006/relationships/slideLayout" Target="../slideLayouts/slideLayout12.xml"/></Relationships>
</file>

<file path=ppt/slides/_rels/slide17.xml.rels><?xml version="1.0" encoding="UTF-8" standalone="yes"?>
<Relationships xmlns="http://schemas.openxmlformats.org/package/2006/relationships"><Relationship Id="rId2" Type="http://schemas.openxmlformats.org/officeDocument/2006/relationships/image" Target="../media/image8.JPG"/><Relationship Id="rId1" Type="http://schemas.openxmlformats.org/officeDocument/2006/relationships/slideLayout" Target="../slideLayouts/slideLayout12.xml"/></Relationships>
</file>

<file path=ppt/slides/_rels/slide18.xml.rels><?xml version="1.0" encoding="UTF-8" standalone="yes"?>
<Relationships xmlns="http://schemas.openxmlformats.org/package/2006/relationships"><Relationship Id="rId2" Type="http://schemas.openxmlformats.org/officeDocument/2006/relationships/image" Target="../media/image9.jpeg"/><Relationship Id="rId1" Type="http://schemas.openxmlformats.org/officeDocument/2006/relationships/slideLayout" Target="../slideLayouts/slideLayout12.xml"/></Relationships>
</file>

<file path=ppt/slides/_rels/slide19.xml.rels><?xml version="1.0" encoding="UTF-8" standalone="yes"?>
<Relationships xmlns="http://schemas.openxmlformats.org/package/2006/relationships"><Relationship Id="rId2" Type="http://schemas.openxmlformats.org/officeDocument/2006/relationships/image" Target="../media/image10.jpg"/><Relationship Id="rId1" Type="http://schemas.openxmlformats.org/officeDocument/2006/relationships/slideLayout" Target="../slideLayouts/slideLayout12.xml"/></Relationships>
</file>

<file path=ppt/slides/_rels/slide20.xml.rels><?xml version="1.0" encoding="UTF-8" standalone="yes"?>
<Relationships xmlns="http://schemas.openxmlformats.org/package/2006/relationships"><Relationship Id="rId3" Type="http://schemas.openxmlformats.org/officeDocument/2006/relationships/image" Target="../media/image12.JPG"/><Relationship Id="rId2" Type="http://schemas.openxmlformats.org/officeDocument/2006/relationships/image" Target="../media/image11.JPG"/><Relationship Id="rId1" Type="http://schemas.openxmlformats.org/officeDocument/2006/relationships/slideLayout" Target="../slideLayouts/slideLayout12.xml"/></Relationships>
</file>

<file path=ppt/slides/_rels/slide2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4.JPG"/><Relationship Id="rId2" Type="http://schemas.openxmlformats.org/officeDocument/2006/relationships/image" Target="../media/image13.JPG"/><Relationship Id="rId1" Type="http://schemas.openxmlformats.org/officeDocument/2006/relationships/slideLayout" Target="../slideLayouts/slideLayout12.xml"/></Relationships>
</file>

<file path=ppt/slides/_rels/slide2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6.JPG"/><Relationship Id="rId2" Type="http://schemas.openxmlformats.org/officeDocument/2006/relationships/image" Target="../media/image15.JPG"/><Relationship Id="rId1" Type="http://schemas.openxmlformats.org/officeDocument/2006/relationships/slideLayout" Target="../slideLayouts/slideLayout12.xml"/></Relationships>
</file>

<file path=ppt/slides/_rels/slide2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8.JPG"/><Relationship Id="rId2" Type="http://schemas.openxmlformats.org/officeDocument/2006/relationships/image" Target="../media/image17.JPG"/><Relationship Id="rId1" Type="http://schemas.openxmlformats.org/officeDocument/2006/relationships/slideLayout" Target="../slideLayouts/slideLayout12.xml"/></Relationships>
</file>

<file path=ppt/slides/_rels/slide2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6.JPG"/><Relationship Id="rId2" Type="http://schemas.openxmlformats.org/officeDocument/2006/relationships/image" Target="../media/image19.JPG"/><Relationship Id="rId1" Type="http://schemas.openxmlformats.org/officeDocument/2006/relationships/slideLayout" Target="../slideLayouts/slideLayout12.xml"/></Relationships>
</file>

<file path=ppt/slides/_rels/slide25.xml.rels><?xml version="1.0" encoding="UTF-8" standalone="yes"?>
<Relationships xmlns="http://schemas.openxmlformats.org/package/2006/relationships"><Relationship Id="rId2" Type="http://schemas.openxmlformats.org/officeDocument/2006/relationships/image" Target="../media/image20.JPG"/><Relationship Id="rId1" Type="http://schemas.openxmlformats.org/officeDocument/2006/relationships/slideLayout" Target="../slideLayouts/slideLayout12.xml"/></Relationships>
</file>

<file path=ppt/slides/_rels/slide2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2.xml"/></Relationships>
</file>

<file path=ppt/slides/_rels/slide2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2.xml"/></Relationships>
</file>

<file path=ppt/slides/_rels/slide2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2.xml"/></Relationships>
</file>

<file path=ppt/slides/_rels/slide2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2.xml"/></Relationships>
</file>

<file path=ppt/slides/_rels/slide3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228600" y="381000"/>
            <a:ext cx="8763000" cy="2509213"/>
          </a:xfrm>
        </p:spPr>
        <p:txBody>
          <a:bodyPr>
            <a:normAutofit/>
          </a:bodyPr>
          <a:lstStyle/>
          <a:p>
            <a:pPr algn="ctr"/>
            <a:r>
              <a:rPr lang="en-US" sz="3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Hybrid and relational databases</a:t>
            </a:r>
            <a:br>
              <a:rPr lang="en-US" sz="3600" dirty="0">
                <a:latin typeface="Times New Roman" panose="02020603050405020304" pitchFamily="18" charset="0"/>
                <a:cs typeface="Times New Roman" panose="02020603050405020304" pitchFamily="18" charset="0"/>
              </a:rPr>
            </a:br>
            <a:br>
              <a:rPr lang="en-US" sz="3600" dirty="0">
                <a:latin typeface="Times New Roman" panose="02020603050405020304" pitchFamily="18" charset="0"/>
                <a:cs typeface="Times New Roman" panose="02020603050405020304" pitchFamily="18" charset="0"/>
              </a:rPr>
            </a:br>
            <a:r>
              <a:rPr lang="en-US" sz="3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comp 5400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685800" y="3657600"/>
            <a:ext cx="7772400" cy="2209800"/>
          </a:xfrm>
        </p:spPr>
        <p:txBody>
          <a:bodyPr>
            <a:normAutofit/>
          </a:bodyPr>
          <a:lstStyle/>
          <a:p>
            <a:pPr algn="ctr"/>
            <a:r>
              <a:rPr lang="en-US" b="1" i="0" dirty="0">
                <a:solidFill>
                  <a:srgbClr val="000000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Instructed by:</a:t>
            </a:r>
          </a:p>
          <a:p>
            <a:pPr algn="ctr"/>
            <a:r>
              <a:rPr lang="en-US" b="1" i="0" dirty="0">
                <a:solidFill>
                  <a:srgbClr val="000000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Dr. manar samad</a:t>
            </a:r>
          </a:p>
          <a:p>
            <a:pPr algn="ctr"/>
            <a:endParaRPr lang="en-US" b="1" i="0" dirty="0">
              <a:solidFill>
                <a:srgbClr val="000000"/>
              </a:solidFill>
              <a:effectLst/>
              <a:latin typeface="Lora" panose="020B0604020202020204" pitchFamily="2" charset="0"/>
            </a:endParaRPr>
          </a:p>
          <a:p>
            <a:pPr algn="ctr"/>
            <a:endParaRPr lang="en-US" b="1" dirty="0"/>
          </a:p>
        </p:txBody>
      </p:sp>
    </p:spTree>
    <p:extLst>
      <p:ext uri="{BB962C8B-B14F-4D97-AF65-F5344CB8AC3E}">
        <p14:creationId xmlns:p14="http://schemas.microsoft.com/office/powerpoint/2010/main" val="3853920893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887F259-5C61-2DB9-221A-E2A2CC514E5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33400" y="1998765"/>
            <a:ext cx="8000999" cy="1049235"/>
          </a:xfrm>
        </p:spPr>
        <p:txBody>
          <a:bodyPr>
            <a:normAutofit/>
          </a:bodyPr>
          <a:lstStyle/>
          <a:p>
            <a:pPr algn="ctr"/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freight forwarders database design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2F903D6F-5BE2-142B-459D-9B9FD2691B18}"/>
              </a:ext>
            </a:extLst>
          </p:cNvPr>
          <p:cNvSpPr>
            <a:spLocks noGrp="1"/>
          </p:cNvSpPr>
          <p:nvPr>
            <p:ph sz="quarter" idx="13"/>
          </p:nvPr>
        </p:nvSpPr>
        <p:spPr>
          <a:xfrm>
            <a:off x="685330" y="3200400"/>
            <a:ext cx="7772870" cy="1143000"/>
          </a:xfrm>
        </p:spPr>
        <p:txBody>
          <a:bodyPr/>
          <a:lstStyle/>
          <a:p>
            <a:pPr marL="0" indent="0" algn="ctr">
              <a:buNone/>
            </a:pPr>
            <a:endParaRPr lang="en-US" sz="3200" dirty="0"/>
          </a:p>
          <a:p>
            <a:pPr marL="0" indent="0" algn="ctr">
              <a:buNone/>
            </a:pP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Waheed Williams</a:t>
            </a:r>
          </a:p>
        </p:txBody>
      </p:sp>
    </p:spTree>
    <p:extLst>
      <p:ext uri="{BB962C8B-B14F-4D97-AF65-F5344CB8AC3E}">
        <p14:creationId xmlns:p14="http://schemas.microsoft.com/office/powerpoint/2010/main" val="4237234606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2810ADB-0745-A7A8-CB41-8B583ABC69D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85330" y="804520"/>
            <a:ext cx="7772869" cy="1049235"/>
          </a:xfrm>
        </p:spPr>
        <p:txBody>
          <a:bodyPr/>
          <a:lstStyle/>
          <a:p>
            <a:pPr algn="ctr"/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Contents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9E4C41D3-8A07-C86D-F38F-42A2A11471F8}"/>
              </a:ext>
            </a:extLst>
          </p:cNvPr>
          <p:cNvSpPr>
            <a:spLocks noGrp="1"/>
          </p:cNvSpPr>
          <p:nvPr>
            <p:ph sz="quarter" idx="13"/>
          </p:nvPr>
        </p:nvSpPr>
        <p:spPr>
          <a:xfrm>
            <a:off x="685330" y="1642721"/>
            <a:ext cx="7772870" cy="2929279"/>
          </a:xfrm>
        </p:spPr>
        <p:txBody>
          <a:bodyPr>
            <a:normAutofit/>
          </a:bodyPr>
          <a:lstStyle/>
          <a:p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Section 1 - Introduction </a:t>
            </a:r>
          </a:p>
          <a:p>
            <a:pPr marL="228600" marR="0" lvl="0" indent="-228600" algn="l" defTabSz="685800" rtl="0" eaLnBrk="1" fontAlgn="auto" latinLnBrk="0" hangingPunct="1">
              <a:lnSpc>
                <a:spcPct val="120000"/>
              </a:lnSpc>
              <a:spcBef>
                <a:spcPts val="1000"/>
              </a:spcBef>
              <a:spcAft>
                <a:spcPts val="0"/>
              </a:spcAft>
              <a:buClr>
                <a:srgbClr val="B71E42"/>
              </a:buClr>
              <a:buSzPct val="100000"/>
              <a:buFont typeface="Arial" panose="020B0604020202020204" pitchFamily="34" charset="0"/>
              <a:buChar char="•"/>
              <a:tabLst/>
              <a:defRPr/>
            </a:pPr>
            <a:r>
              <a:rPr kumimoji="0" lang="en-US" sz="20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imes New Roman" panose="02020603050405020304" pitchFamily="18" charset="0"/>
                <a:cs typeface="Times New Roman" panose="02020603050405020304" pitchFamily="18" charset="0"/>
              </a:rPr>
              <a:t>Section 2 - Methodology </a:t>
            </a:r>
          </a:p>
          <a:p>
            <a:pPr marL="228600" marR="0" lvl="0" indent="-228600" algn="l" defTabSz="685800" rtl="0" eaLnBrk="1" fontAlgn="auto" latinLnBrk="0" hangingPunct="1">
              <a:lnSpc>
                <a:spcPct val="120000"/>
              </a:lnSpc>
              <a:spcBef>
                <a:spcPts val="1000"/>
              </a:spcBef>
              <a:spcAft>
                <a:spcPts val="0"/>
              </a:spcAft>
              <a:buClr>
                <a:srgbClr val="B71E42"/>
              </a:buClr>
              <a:buSzPct val="100000"/>
              <a:buFont typeface="Arial" panose="020B0604020202020204" pitchFamily="34" charset="0"/>
              <a:buChar char="•"/>
              <a:tabLst/>
              <a:defRPr/>
            </a:pPr>
            <a:r>
              <a:rPr kumimoji="0" lang="en-US" sz="20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imes New Roman" panose="02020603050405020304" pitchFamily="18" charset="0"/>
                <a:cs typeface="Times New Roman" panose="02020603050405020304" pitchFamily="18" charset="0"/>
              </a:rPr>
              <a:t>Section 3 - Results </a:t>
            </a:r>
          </a:p>
          <a:p>
            <a:pPr marL="228600" marR="0" lvl="0" indent="-228600" algn="l" defTabSz="685800" rtl="0" eaLnBrk="1" fontAlgn="auto" latinLnBrk="0" hangingPunct="1">
              <a:lnSpc>
                <a:spcPct val="120000"/>
              </a:lnSpc>
              <a:spcBef>
                <a:spcPts val="1000"/>
              </a:spcBef>
              <a:spcAft>
                <a:spcPts val="0"/>
              </a:spcAft>
              <a:buClr>
                <a:srgbClr val="B71E42"/>
              </a:buClr>
              <a:buSzPct val="100000"/>
              <a:buFont typeface="Arial" panose="020B0604020202020204" pitchFamily="34" charset="0"/>
              <a:buChar char="•"/>
              <a:tabLst/>
              <a:defRPr/>
            </a:pPr>
            <a:r>
              <a:rPr kumimoji="0" lang="en-US" sz="20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Times New Roman" panose="02020603050405020304" pitchFamily="18" charset="0"/>
                <a:cs typeface="Times New Roman" panose="02020603050405020304" pitchFamily="18" charset="0"/>
              </a:rPr>
              <a:t>Section 4 – Discussion and Conclusions </a:t>
            </a:r>
          </a:p>
        </p:txBody>
      </p:sp>
    </p:spTree>
    <p:extLst>
      <p:ext uri="{BB962C8B-B14F-4D97-AF65-F5344CB8AC3E}">
        <p14:creationId xmlns:p14="http://schemas.microsoft.com/office/powerpoint/2010/main" val="4263076043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2E38225-193F-0CD9-B4D9-DDD40D17ACC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295400" y="2684565"/>
            <a:ext cx="6571343" cy="1049235"/>
          </a:xfrm>
        </p:spPr>
        <p:txBody>
          <a:bodyPr/>
          <a:lstStyle/>
          <a:p>
            <a:pPr algn="ctr"/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Section 1</a:t>
            </a:r>
            <a:b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</a:b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introduction</a:t>
            </a:r>
          </a:p>
        </p:txBody>
      </p:sp>
    </p:spTree>
    <p:extLst>
      <p:ext uri="{BB962C8B-B14F-4D97-AF65-F5344CB8AC3E}">
        <p14:creationId xmlns:p14="http://schemas.microsoft.com/office/powerpoint/2010/main" val="1068710995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E356E44-17BC-BA2A-21D1-DE208CBEE00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57200" y="804520"/>
            <a:ext cx="8229601" cy="1049235"/>
          </a:xfrm>
        </p:spPr>
        <p:txBody>
          <a:bodyPr>
            <a:noAutofit/>
          </a:bodyPr>
          <a:lstStyle/>
          <a:p>
            <a:pPr algn="ctr"/>
            <a:r>
              <a:rPr lang="en-US" sz="2800" dirty="0"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Defining and introducing the relational database and its applications</a:t>
            </a:r>
            <a:endParaRPr lang="en-US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CD40E33A-314C-092E-0EC7-0E080D7D61FF}"/>
              </a:ext>
            </a:extLst>
          </p:cNvPr>
          <p:cNvSpPr>
            <a:spLocks noGrp="1"/>
          </p:cNvSpPr>
          <p:nvPr>
            <p:ph sz="quarter" idx="13"/>
          </p:nvPr>
        </p:nvSpPr>
        <p:spPr>
          <a:xfrm>
            <a:off x="304800" y="1981200"/>
            <a:ext cx="8610600" cy="4038600"/>
          </a:xfrm>
        </p:spPr>
        <p:txBody>
          <a:bodyPr>
            <a:normAutofit fontScale="92500"/>
          </a:bodyPr>
          <a:lstStyle/>
          <a:p>
            <a:pPr>
              <a:lnSpc>
                <a:spcPct val="170000"/>
              </a:lnSpc>
            </a:pPr>
            <a:r>
              <a:rPr lang="en-US" sz="1900" kern="100" dirty="0"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Freight Forwarder type of shipping database design</a:t>
            </a:r>
          </a:p>
          <a:p>
            <a:pPr>
              <a:lnSpc>
                <a:spcPct val="170000"/>
              </a:lnSpc>
            </a:pPr>
            <a:r>
              <a:rPr lang="en-US" sz="1900" kern="100" dirty="0"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Act as </a:t>
            </a:r>
            <a:r>
              <a:rPr lang="en-US" sz="1900" kern="100" dirty="0"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liaisons between shipper and carriers (negotiations, booking cargo, preparing shipments, handling customers</a:t>
            </a:r>
          </a:p>
          <a:p>
            <a:pPr>
              <a:lnSpc>
                <a:spcPct val="170000"/>
              </a:lnSpc>
            </a:pPr>
            <a:r>
              <a:rPr lang="en-US" sz="1900" kern="100" dirty="0"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Are experts in air, sea, and land arrangements</a:t>
            </a:r>
          </a:p>
          <a:p>
            <a:pPr>
              <a:lnSpc>
                <a:spcPct val="170000"/>
              </a:lnSpc>
            </a:pPr>
            <a:r>
              <a:rPr lang="en-US" sz="1900" kern="100" dirty="0"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Database will be implemented using a relational style database management system</a:t>
            </a:r>
          </a:p>
          <a:p>
            <a:pPr>
              <a:lnSpc>
                <a:spcPct val="170000"/>
              </a:lnSpc>
            </a:pPr>
            <a:r>
              <a:rPr lang="en-US" sz="1900" kern="100" dirty="0"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Seven tables will be designed and developed using Data Definition Language (DDL)</a:t>
            </a:r>
          </a:p>
          <a:p>
            <a:pPr>
              <a:lnSpc>
                <a:spcPct val="170000"/>
              </a:lnSpc>
            </a:pPr>
            <a:r>
              <a:rPr lang="en-US" sz="1900" kern="100" dirty="0"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Seven tables will be populated and manage using Data Manipulation Language (DML)</a:t>
            </a:r>
            <a:endParaRPr lang="en-US" sz="1900" kern="100" dirty="0">
              <a:effectLst/>
              <a:latin typeface="Calibri" panose="020F0502020204030204" pitchFamily="34" charset="0"/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97108093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FDFC6B8-0B48-90EE-82A0-5DB3E2F746E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85330" y="804520"/>
            <a:ext cx="7772869" cy="1049235"/>
          </a:xfrm>
        </p:spPr>
        <p:txBody>
          <a:bodyPr>
            <a:normAutofit/>
          </a:bodyPr>
          <a:lstStyle/>
          <a:p>
            <a:pPr algn="ctr"/>
            <a:r>
              <a:rPr lang="en-US" sz="2800" dirty="0"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Database background motivation</a:t>
            </a:r>
            <a:endParaRPr lang="en-US" sz="28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5C3D147D-3145-EE56-9FFF-E0EE3D2CBDFD}"/>
              </a:ext>
            </a:extLst>
          </p:cNvPr>
          <p:cNvSpPr>
            <a:spLocks noGrp="1"/>
          </p:cNvSpPr>
          <p:nvPr>
            <p:ph sz="quarter" idx="13"/>
          </p:nvPr>
        </p:nvSpPr>
        <p:spPr>
          <a:xfrm>
            <a:off x="685330" y="1752601"/>
            <a:ext cx="7772870" cy="3200399"/>
          </a:xfrm>
        </p:spPr>
        <p:txBody>
          <a:bodyPr>
            <a:normAutofit/>
          </a:bodyPr>
          <a:lstStyle/>
          <a:p>
            <a:pPr>
              <a:lnSpc>
                <a:spcPct val="115000"/>
              </a:lnSpc>
              <a:spcBef>
                <a:spcPts val="0"/>
              </a:spcBef>
            </a:pPr>
            <a:r>
              <a:rPr lang="en-US" sz="1800" kern="100" dirty="0"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Skill development with relational database design</a:t>
            </a:r>
            <a:endParaRPr lang="en-US" sz="1800" kern="100" dirty="0">
              <a:effectLst/>
              <a:latin typeface="Times New Roman" panose="02020603050405020304" pitchFamily="18" charset="0"/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pPr>
              <a:lnSpc>
                <a:spcPct val="115000"/>
              </a:lnSpc>
              <a:spcBef>
                <a:spcPts val="0"/>
              </a:spcBef>
            </a:pPr>
            <a:endParaRPr lang="en-US" sz="1800" kern="100" dirty="0">
              <a:effectLst/>
              <a:latin typeface="Times New Roman" panose="02020603050405020304" pitchFamily="18" charset="0"/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pPr>
              <a:lnSpc>
                <a:spcPct val="115000"/>
              </a:lnSpc>
              <a:spcBef>
                <a:spcPts val="0"/>
              </a:spcBef>
            </a:pPr>
            <a:r>
              <a:rPr lang="en-US" sz="1800" kern="100" dirty="0"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Streamline processes involved with managing shipments, tracking cargo, etc.</a:t>
            </a:r>
          </a:p>
          <a:p>
            <a:pPr>
              <a:lnSpc>
                <a:spcPct val="115000"/>
              </a:lnSpc>
              <a:spcBef>
                <a:spcPts val="0"/>
              </a:spcBef>
            </a:pPr>
            <a:endParaRPr lang="en-US" sz="1800" kern="100" dirty="0">
              <a:latin typeface="Times New Roman" panose="02020603050405020304" pitchFamily="18" charset="0"/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pPr>
              <a:lnSpc>
                <a:spcPct val="115000"/>
              </a:lnSpc>
              <a:spcBef>
                <a:spcPts val="0"/>
              </a:spcBef>
            </a:pPr>
            <a:r>
              <a:rPr lang="en-US" sz="1800" kern="100" dirty="0"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Reports generation and analytical analysis as needed by Freight Forwarder style shipping companies (e.g., optimizing operations, customer satisfaction, error reduction)</a:t>
            </a:r>
            <a:endParaRPr lang="en-US" sz="1800" kern="100" dirty="0">
              <a:latin typeface="Calibri" panose="020F0502020204030204" pitchFamily="34" charset="0"/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pPr>
              <a:lnSpc>
                <a:spcPct val="115000"/>
              </a:lnSpc>
              <a:spcBef>
                <a:spcPts val="0"/>
              </a:spcBef>
            </a:pPr>
            <a:endParaRPr lang="en-US" sz="1800" kern="100" dirty="0">
              <a:effectLst/>
              <a:latin typeface="Times New Roman" panose="02020603050405020304" pitchFamily="18" charset="0"/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pPr>
              <a:lnSpc>
                <a:spcPct val="115000"/>
              </a:lnSpc>
              <a:spcBef>
                <a:spcPts val="0"/>
              </a:spcBef>
            </a:pPr>
            <a:r>
              <a:rPr lang="en-US" sz="1800" kern="100" dirty="0"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Manage huge data relating to the flow of goods (location, cargo type, cost)</a:t>
            </a:r>
          </a:p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078871873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28CFCD5-6CC0-70CC-9961-7CE537B5B7C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85329" y="804520"/>
            <a:ext cx="7772870" cy="1049235"/>
          </a:xfrm>
        </p:spPr>
        <p:txBody>
          <a:bodyPr>
            <a:normAutofit/>
          </a:bodyPr>
          <a:lstStyle/>
          <a:p>
            <a:pPr algn="ctr"/>
            <a:r>
              <a:rPr lang="en-US" sz="2800" dirty="0"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Database users, data type, data stored or retrieved using DML</a:t>
            </a:r>
            <a:endParaRPr lang="en-US" sz="28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AD799DBF-2471-BEC5-469E-452917162071}"/>
              </a:ext>
            </a:extLst>
          </p:cNvPr>
          <p:cNvSpPr>
            <a:spLocks noGrp="1"/>
          </p:cNvSpPr>
          <p:nvPr>
            <p:ph sz="quarter" idx="13"/>
          </p:nvPr>
        </p:nvSpPr>
        <p:spPr/>
        <p:txBody>
          <a:bodyPr/>
          <a:lstStyle/>
          <a:p>
            <a:r>
              <a:rPr lang="en-US" sz="1800" dirty="0">
                <a:effectLst/>
                <a:latin typeface="Times New Roman" panose="02020603050405020304" pitchFamily="18" charset="0"/>
                <a:ea typeface="Calibri" panose="020F0502020204030204" pitchFamily="34" charset="0"/>
              </a:rPr>
              <a:t>Freight Forwarders style shipping companies </a:t>
            </a:r>
          </a:p>
          <a:p>
            <a:r>
              <a:rPr lang="en-US" sz="1800" dirty="0">
                <a:effectLst/>
                <a:latin typeface="Times New Roman" panose="02020603050405020304" pitchFamily="18" charset="0"/>
                <a:ea typeface="Calibri" panose="020F0502020204030204" pitchFamily="34" charset="0"/>
              </a:rPr>
              <a:t>The data types used in this database will include:</a:t>
            </a:r>
          </a:p>
          <a:p>
            <a:pPr>
              <a:buFont typeface="Wingdings" panose="05000000000000000000" pitchFamily="2" charset="2"/>
              <a:buChar char="q"/>
            </a:pPr>
            <a:r>
              <a:rPr lang="en-US" sz="1800" dirty="0">
                <a:effectLst/>
                <a:latin typeface="Times New Roman" panose="02020603050405020304" pitchFamily="18" charset="0"/>
                <a:ea typeface="Calibri" panose="020F0502020204030204" pitchFamily="34" charset="0"/>
              </a:rPr>
              <a:t> - INT</a:t>
            </a:r>
          </a:p>
          <a:p>
            <a:pPr>
              <a:buFont typeface="Wingdings" panose="05000000000000000000" pitchFamily="2" charset="2"/>
              <a:buChar char="q"/>
            </a:pPr>
            <a:r>
              <a:rPr lang="en-US" sz="1800" dirty="0">
                <a:effectLst/>
                <a:latin typeface="Times New Roman" panose="02020603050405020304" pitchFamily="18" charset="0"/>
                <a:ea typeface="Calibri" panose="020F0502020204030204" pitchFamily="34" charset="0"/>
              </a:rPr>
              <a:t> - VARCHER </a:t>
            </a:r>
          </a:p>
          <a:p>
            <a:pPr>
              <a:buFont typeface="Wingdings" panose="05000000000000000000" pitchFamily="2" charset="2"/>
              <a:buChar char="q"/>
            </a:pPr>
            <a:r>
              <a:rPr lang="en-US" sz="1800" dirty="0">
                <a:effectLst/>
                <a:latin typeface="Times New Roman" panose="02020603050405020304" pitchFamily="18" charset="0"/>
                <a:ea typeface="Calibri" panose="020F0502020204030204" pitchFamily="34" charset="0"/>
              </a:rPr>
              <a:t> - DATE </a:t>
            </a:r>
          </a:p>
          <a:p>
            <a:pPr>
              <a:buFont typeface="Wingdings" panose="05000000000000000000" pitchFamily="2" charset="2"/>
              <a:buChar char="q"/>
            </a:pPr>
            <a:r>
              <a:rPr lang="en-US" sz="1800" dirty="0">
                <a:effectLst/>
                <a:latin typeface="Times New Roman" panose="02020603050405020304" pitchFamily="18" charset="0"/>
                <a:ea typeface="Calibri" panose="020F0502020204030204" pitchFamily="34" charset="0"/>
              </a:rPr>
              <a:t>- DECIMAL  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467969691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2E38225-193F-0CD9-B4D9-DDD40D17ACC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295400" y="2684565"/>
            <a:ext cx="6571343" cy="1049235"/>
          </a:xfrm>
        </p:spPr>
        <p:txBody>
          <a:bodyPr/>
          <a:lstStyle/>
          <a:p>
            <a:pPr algn="ctr"/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Section 2</a:t>
            </a:r>
            <a:b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</a:b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methodology</a:t>
            </a:r>
          </a:p>
        </p:txBody>
      </p:sp>
    </p:spTree>
    <p:extLst>
      <p:ext uri="{BB962C8B-B14F-4D97-AF65-F5344CB8AC3E}">
        <p14:creationId xmlns:p14="http://schemas.microsoft.com/office/powerpoint/2010/main" val="3721766465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A8CC581-58F7-6FD9-6DE1-B25EB3D7CE5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85330" y="804520"/>
            <a:ext cx="7772869" cy="1049235"/>
          </a:xfrm>
        </p:spPr>
        <p:txBody>
          <a:bodyPr>
            <a:normAutofit/>
          </a:bodyPr>
          <a:lstStyle/>
          <a:p>
            <a:pPr algn="ctr"/>
            <a:r>
              <a:rPr lang="en-US" sz="2800" dirty="0"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Database design methods with definitions and roles</a:t>
            </a:r>
            <a:endParaRPr lang="en-US" sz="28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3F5A4F3D-3DD8-4D0A-FA37-7432D00A2023}"/>
              </a:ext>
            </a:extLst>
          </p:cNvPr>
          <p:cNvSpPr>
            <a:spLocks noGrp="1"/>
          </p:cNvSpPr>
          <p:nvPr>
            <p:ph sz="quarter" idx="13"/>
          </p:nvPr>
        </p:nvSpPr>
        <p:spPr>
          <a:xfrm>
            <a:off x="457200" y="1853755"/>
            <a:ext cx="8229600" cy="3937445"/>
          </a:xfrm>
        </p:spPr>
        <p:txBody>
          <a:bodyPr>
            <a:normAutofit fontScale="85000" lnSpcReduction="20000"/>
          </a:bodyPr>
          <a:lstStyle/>
          <a:p>
            <a:r>
              <a:rPr lang="en-US" sz="2100" kern="100" dirty="0"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Column names: Cargo, Carriers, Consignees, Consignees_has_Shipments, Invoice, Shipments and Shippers. </a:t>
            </a:r>
          </a:p>
          <a:p>
            <a:r>
              <a:rPr lang="en-US" sz="2100" kern="100" dirty="0"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Shippers table - stores information about companies shipping goods</a:t>
            </a:r>
          </a:p>
          <a:p>
            <a:r>
              <a:rPr lang="en-US" sz="2100" kern="100" dirty="0"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Carriers table - stores information about companies that transport goods. </a:t>
            </a:r>
          </a:p>
          <a:p>
            <a:r>
              <a:rPr lang="en-US" sz="2100" kern="100" dirty="0"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Shipments table - stores information about the individual shipments. </a:t>
            </a:r>
          </a:p>
          <a:p>
            <a:r>
              <a:rPr lang="en-US" sz="2100" kern="100" dirty="0"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Cargo table  - stores information about the cargo being shipped. </a:t>
            </a:r>
          </a:p>
          <a:p>
            <a:r>
              <a:rPr lang="en-US" sz="2100" kern="100" dirty="0"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Consignees table - stores information about the entity receiving the goods. </a:t>
            </a:r>
          </a:p>
          <a:p>
            <a:r>
              <a:rPr lang="en-US" sz="2100" kern="100" dirty="0"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Invoice table - stores information regarding the amount of the shipment in the Shipments table. </a:t>
            </a:r>
            <a:endParaRPr lang="en-US" sz="2100" kern="100" dirty="0">
              <a:latin typeface="Times New Roman" panose="02020603050405020304" pitchFamily="18" charset="0"/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r>
              <a:rPr lang="en-US" sz="2100" kern="100" dirty="0"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Consignees_has_Shipments  (many to many relationship Consignees and shipments.) </a:t>
            </a:r>
            <a:endParaRPr lang="en-US" sz="2100" kern="100" dirty="0">
              <a:effectLst/>
              <a:latin typeface="Calibri" panose="020F0502020204030204" pitchFamily="34" charset="0"/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4198852062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74F9D17-669E-7F31-2B48-98B8EF69ADB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85330" y="804520"/>
            <a:ext cx="7772869" cy="1049235"/>
          </a:xfrm>
        </p:spPr>
        <p:txBody>
          <a:bodyPr>
            <a:normAutofit/>
          </a:bodyPr>
          <a:lstStyle/>
          <a:p>
            <a:pPr algn="ctr"/>
            <a:r>
              <a:rPr lang="en-US" sz="2800" dirty="0"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Database schema and ER Diagram</a:t>
            </a:r>
            <a:endParaRPr lang="en-US" sz="28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B473361C-6E23-59DB-544A-5417B637FE1F}"/>
              </a:ext>
            </a:extLst>
          </p:cNvPr>
          <p:cNvSpPr>
            <a:spLocks noGrp="1"/>
          </p:cNvSpPr>
          <p:nvPr>
            <p:ph sz="quarter" idx="13"/>
          </p:nvPr>
        </p:nvSpPr>
        <p:spPr>
          <a:xfrm>
            <a:off x="685330" y="1981201"/>
            <a:ext cx="7772870" cy="3200399"/>
          </a:xfrm>
        </p:spPr>
        <p:txBody>
          <a:bodyPr>
            <a:normAutofit/>
          </a:bodyPr>
          <a:lstStyle/>
          <a:p>
            <a:pPr>
              <a:lnSpc>
                <a:spcPct val="150000"/>
              </a:lnSpc>
            </a:pPr>
            <a:r>
              <a:rPr lang="en-US" sz="1800" kern="100" dirty="0"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Blueprint for outlining organization of a database. </a:t>
            </a:r>
          </a:p>
          <a:p>
            <a:pPr>
              <a:lnSpc>
                <a:spcPct val="150000"/>
              </a:lnSpc>
            </a:pPr>
            <a:r>
              <a:rPr lang="en-US" sz="1800" kern="100" dirty="0"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Defines the structure of the database, tables, columns, and relationships. </a:t>
            </a:r>
          </a:p>
          <a:p>
            <a:pPr>
              <a:lnSpc>
                <a:spcPct val="150000"/>
              </a:lnSpc>
            </a:pPr>
            <a:r>
              <a:rPr lang="en-US" sz="1800" kern="100" dirty="0"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Specifies the data types and constraints for each column. </a:t>
            </a:r>
          </a:p>
          <a:p>
            <a:pPr>
              <a:lnSpc>
                <a:spcPct val="150000"/>
              </a:lnSpc>
            </a:pPr>
            <a:r>
              <a:rPr lang="en-US" sz="1800" kern="100" dirty="0"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Ensures data consistency and integrity through PK, FK etc.</a:t>
            </a:r>
            <a:endParaRPr lang="en-US" sz="1800" kern="100" dirty="0">
              <a:effectLst/>
              <a:latin typeface="Calibri" panose="020F0502020204030204" pitchFamily="34" charset="0"/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526561491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C9580D2-6100-A5A6-0D41-7C14790AC19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85330" y="804520"/>
            <a:ext cx="7772869" cy="1049235"/>
          </a:xfrm>
        </p:spPr>
        <p:txBody>
          <a:bodyPr>
            <a:normAutofit/>
          </a:bodyPr>
          <a:lstStyle/>
          <a:p>
            <a:pPr algn="ctr"/>
            <a:r>
              <a:rPr lang="en-US" sz="2800" dirty="0"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Entity Relation (ER) Diagrams</a:t>
            </a:r>
            <a:endParaRPr lang="en-US" sz="28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6CE4534D-6074-FA46-2179-CD6C96CEFEC0}"/>
              </a:ext>
            </a:extLst>
          </p:cNvPr>
          <p:cNvSpPr>
            <a:spLocks noGrp="1"/>
          </p:cNvSpPr>
          <p:nvPr>
            <p:ph sz="quarter" idx="13"/>
          </p:nvPr>
        </p:nvSpPr>
        <p:spPr>
          <a:xfrm>
            <a:off x="685330" y="2133600"/>
            <a:ext cx="7772870" cy="2590800"/>
          </a:xfrm>
        </p:spPr>
        <p:txBody>
          <a:bodyPr>
            <a:normAutofit/>
          </a:bodyPr>
          <a:lstStyle/>
          <a:p>
            <a:pPr>
              <a:lnSpc>
                <a:spcPct val="150000"/>
              </a:lnSpc>
            </a:pPr>
            <a:r>
              <a:rPr lang="en-US" sz="1800" kern="100" dirty="0"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Graphically represent the relation between the various attributes of the database schema. </a:t>
            </a:r>
          </a:p>
          <a:p>
            <a:pPr>
              <a:lnSpc>
                <a:spcPct val="150000"/>
              </a:lnSpc>
            </a:pPr>
            <a:r>
              <a:rPr lang="en-US" sz="1800" kern="100" dirty="0"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Ensures that the structure of the database is well constructed and implemented. </a:t>
            </a:r>
          </a:p>
          <a:p>
            <a:pPr>
              <a:lnSpc>
                <a:spcPct val="150000"/>
              </a:lnSpc>
            </a:pPr>
            <a:r>
              <a:rPr lang="en-US" sz="1800" kern="100" dirty="0"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Visual representation and helps for navigating when errors or conflicts may arise.</a:t>
            </a:r>
            <a:endParaRPr lang="en-US" sz="1800" kern="100" dirty="0">
              <a:effectLst/>
              <a:latin typeface="Calibri" panose="020F0502020204030204" pitchFamily="34" charset="0"/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650933262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B461638-D6EF-336E-8AE6-738B66F1998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85330" y="804520"/>
            <a:ext cx="7772869" cy="1049235"/>
          </a:xfrm>
        </p:spPr>
        <p:txBody>
          <a:bodyPr>
            <a:normAutofit/>
          </a:bodyPr>
          <a:lstStyle/>
          <a:p>
            <a:pPr algn="ctr"/>
            <a:r>
              <a:rPr lang="en-US" sz="2800" dirty="0"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DDL Usage for database manipulation</a:t>
            </a:r>
            <a:endParaRPr lang="en-US" sz="28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6DAB00D7-660D-07A1-DE53-83A6F40FD703}"/>
              </a:ext>
            </a:extLst>
          </p:cNvPr>
          <p:cNvSpPr>
            <a:spLocks noGrp="1"/>
          </p:cNvSpPr>
          <p:nvPr>
            <p:ph sz="quarter" idx="13"/>
          </p:nvPr>
        </p:nvSpPr>
        <p:spPr>
          <a:xfrm>
            <a:off x="304800" y="1676401"/>
            <a:ext cx="8534400" cy="4114800"/>
          </a:xfrm>
        </p:spPr>
        <p:txBody>
          <a:bodyPr/>
          <a:lstStyle/>
          <a:p>
            <a:pPr>
              <a:lnSpc>
                <a:spcPct val="150000"/>
              </a:lnSpc>
            </a:pPr>
            <a:r>
              <a:rPr lang="en-US" sz="1800" kern="100" dirty="0"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Set of SQL commands used to create and modify database structures. </a:t>
            </a:r>
          </a:p>
          <a:p>
            <a:pPr>
              <a:lnSpc>
                <a:spcPct val="150000"/>
              </a:lnSpc>
            </a:pPr>
            <a:r>
              <a:rPr lang="en-US" sz="1800" kern="100" dirty="0"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Some of the common commands are: </a:t>
            </a:r>
          </a:p>
          <a:p>
            <a:pPr>
              <a:lnSpc>
                <a:spcPct val="150000"/>
              </a:lnSpc>
              <a:buFont typeface="Wingdings" panose="05000000000000000000" pitchFamily="2" charset="2"/>
              <a:buChar char="q"/>
            </a:pPr>
            <a:r>
              <a:rPr lang="en-US" sz="1800" kern="100" dirty="0"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Create (create a database and or the tables within the database structure.)</a:t>
            </a:r>
          </a:p>
          <a:p>
            <a:pPr>
              <a:lnSpc>
                <a:spcPct val="150000"/>
              </a:lnSpc>
              <a:buFont typeface="Wingdings" panose="05000000000000000000" pitchFamily="2" charset="2"/>
              <a:buChar char="q"/>
            </a:pPr>
            <a:r>
              <a:rPr lang="en-US" sz="1800" kern="100" dirty="0"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Alter (affect in place database structure and or tables.) </a:t>
            </a:r>
          </a:p>
          <a:p>
            <a:pPr>
              <a:lnSpc>
                <a:spcPct val="150000"/>
              </a:lnSpc>
              <a:buFont typeface="Wingdings" panose="05000000000000000000" pitchFamily="2" charset="2"/>
              <a:buChar char="q"/>
            </a:pPr>
            <a:r>
              <a:rPr lang="en-US" sz="1800" kern="100" dirty="0"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Drop (delete a table or an entire database.) </a:t>
            </a:r>
          </a:p>
          <a:p>
            <a:pPr>
              <a:lnSpc>
                <a:spcPct val="150000"/>
              </a:lnSpc>
            </a:pPr>
            <a:r>
              <a:rPr lang="en-US" sz="1800" kern="100" dirty="0"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Mechanism used to define data integrity constraints such as primary keys, foreign keys, and unique constraints. </a:t>
            </a:r>
          </a:p>
        </p:txBody>
      </p:sp>
    </p:spTree>
    <p:extLst>
      <p:ext uri="{BB962C8B-B14F-4D97-AF65-F5344CB8AC3E}">
        <p14:creationId xmlns:p14="http://schemas.microsoft.com/office/powerpoint/2010/main" val="1301361635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2E38225-193F-0CD9-B4D9-DDD40D17ACC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295400" y="2684565"/>
            <a:ext cx="6571343" cy="1049235"/>
          </a:xfrm>
        </p:spPr>
        <p:txBody>
          <a:bodyPr/>
          <a:lstStyle/>
          <a:p>
            <a:pPr algn="ctr"/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Section 3</a:t>
            </a:r>
            <a:b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</a:b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results</a:t>
            </a:r>
          </a:p>
        </p:txBody>
      </p:sp>
    </p:spTree>
    <p:extLst>
      <p:ext uri="{BB962C8B-B14F-4D97-AF65-F5344CB8AC3E}">
        <p14:creationId xmlns:p14="http://schemas.microsoft.com/office/powerpoint/2010/main" val="98394793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5B0069F-7428-727F-64FB-EB5B3C3C32B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85330" y="804520"/>
            <a:ext cx="7772869" cy="1049235"/>
          </a:xfrm>
        </p:spPr>
        <p:txBody>
          <a:bodyPr>
            <a:normAutofit/>
          </a:bodyPr>
          <a:lstStyle/>
          <a:p>
            <a:pPr algn="ctr"/>
            <a:r>
              <a:rPr lang="en-US" sz="2800" dirty="0"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Database schema</a:t>
            </a:r>
            <a:endParaRPr lang="en-US" sz="28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pic>
        <p:nvPicPr>
          <p:cNvPr id="8" name="Picture 7">
            <a:extLst>
              <a:ext uri="{FF2B5EF4-FFF2-40B4-BE49-F238E27FC236}">
                <a16:creationId xmlns:a16="http://schemas.microsoft.com/office/drawing/2014/main" id="{E8FC34A3-64EC-88AB-24CF-D885C2C1CD25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1447800"/>
            <a:ext cx="9144000" cy="448108"/>
          </a:xfrm>
          <a:prstGeom prst="rect">
            <a:avLst/>
          </a:prstGeom>
        </p:spPr>
      </p:pic>
      <p:pic>
        <p:nvPicPr>
          <p:cNvPr id="10" name="Picture 9">
            <a:extLst>
              <a:ext uri="{FF2B5EF4-FFF2-40B4-BE49-F238E27FC236}">
                <a16:creationId xmlns:a16="http://schemas.microsoft.com/office/drawing/2014/main" id="{3CADCD28-D3B3-A5D6-774B-37A87A4AFC42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3505200"/>
            <a:ext cx="9144000" cy="397050"/>
          </a:xfrm>
          <a:prstGeom prst="rect">
            <a:avLst/>
          </a:prstGeom>
        </p:spPr>
      </p:pic>
      <p:sp>
        <p:nvSpPr>
          <p:cNvPr id="3" name="TextBox 2">
            <a:extLst>
              <a:ext uri="{FF2B5EF4-FFF2-40B4-BE49-F238E27FC236}">
                <a16:creationId xmlns:a16="http://schemas.microsoft.com/office/drawing/2014/main" id="{7977D22E-D549-8547-41E8-41D9C77E457A}"/>
              </a:ext>
            </a:extLst>
          </p:cNvPr>
          <p:cNvSpPr txBox="1"/>
          <p:nvPr/>
        </p:nvSpPr>
        <p:spPr>
          <a:xfrm>
            <a:off x="381000" y="2057400"/>
            <a:ext cx="8458200" cy="13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lang="en-US" sz="1800" kern="100" dirty="0"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PK: CargoID INT</a:t>
            </a:r>
            <a:endParaRPr lang="en-US" sz="1800" kern="100" dirty="0">
              <a:effectLst/>
              <a:latin typeface="Calibri" panose="020F0502020204030204" pitchFamily="34" charset="0"/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pPr marL="0" marR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lang="en-US" sz="1800" kern="100" dirty="0"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FK: </a:t>
            </a:r>
            <a:r>
              <a:rPr lang="en-US" sz="1800" kern="100" dirty="0" err="1"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shipmentID</a:t>
            </a:r>
            <a:r>
              <a:rPr lang="en-US" sz="1800" kern="100" dirty="0"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 References shipment(</a:t>
            </a:r>
            <a:r>
              <a:rPr lang="en-US" sz="1800" kern="100" dirty="0" err="1"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shipmentID</a:t>
            </a:r>
            <a:r>
              <a:rPr lang="en-US" sz="1800" kern="100" dirty="0"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)</a:t>
            </a:r>
            <a:endParaRPr lang="en-US" sz="1800" kern="100" dirty="0">
              <a:effectLst/>
              <a:latin typeface="Calibri" panose="020F0502020204030204" pitchFamily="34" charset="0"/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pPr marL="0" marR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lang="en-US" sz="1800" kern="100" dirty="0" err="1"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cargoName</a:t>
            </a:r>
            <a:r>
              <a:rPr lang="en-US" sz="1800" kern="100" dirty="0"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 VARCHAR(45)</a:t>
            </a:r>
            <a:endParaRPr lang="en-US" sz="1800" kern="100" dirty="0">
              <a:effectLst/>
              <a:latin typeface="Calibri" panose="020F0502020204030204" pitchFamily="34" charset="0"/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pPr marL="0" marR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lang="en-US" sz="1800" kern="100" dirty="0" err="1"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cargoDescription</a:t>
            </a:r>
            <a:r>
              <a:rPr lang="en-US" sz="1800" kern="100" dirty="0"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 VARCHAR(255)</a:t>
            </a:r>
            <a:endParaRPr lang="en-US" sz="1800" kern="100" dirty="0">
              <a:effectLst/>
              <a:latin typeface="Calibri" panose="020F0502020204030204" pitchFamily="34" charset="0"/>
              <a:ea typeface="Calibri" panose="020F0502020204030204" pitchFamily="34" charset="0"/>
              <a:cs typeface="Times New Roman" panose="02020603050405020304" pitchFamily="18" charset="0"/>
            </a:endParaRP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F32BB3F8-44DB-BDE8-536D-C5CFA21B38B1}"/>
              </a:ext>
            </a:extLst>
          </p:cNvPr>
          <p:cNvSpPr txBox="1"/>
          <p:nvPr/>
        </p:nvSpPr>
        <p:spPr>
          <a:xfrm>
            <a:off x="381000" y="4063869"/>
            <a:ext cx="8458200" cy="13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lang="en-US" sz="1800" kern="100" dirty="0"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PK: </a:t>
            </a:r>
            <a:r>
              <a:rPr lang="en-US" sz="1800" kern="100" dirty="0" err="1"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carrierID</a:t>
            </a:r>
            <a:r>
              <a:rPr lang="en-US" sz="1800" kern="100" dirty="0"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 INT</a:t>
            </a:r>
            <a:endParaRPr lang="en-US" sz="1800" kern="100" dirty="0">
              <a:effectLst/>
              <a:latin typeface="Calibri" panose="020F0502020204030204" pitchFamily="34" charset="0"/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pPr marL="0" marR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lang="en-US" sz="1800" kern="100" dirty="0" err="1"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carrierName</a:t>
            </a:r>
            <a:r>
              <a:rPr lang="en-US" sz="1800" kern="100" dirty="0"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, </a:t>
            </a:r>
            <a:r>
              <a:rPr lang="en-US" sz="1800" kern="100" dirty="0" err="1"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carrierAddress</a:t>
            </a:r>
            <a:r>
              <a:rPr lang="en-US" sz="1800" kern="100" dirty="0"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, </a:t>
            </a:r>
            <a:r>
              <a:rPr lang="en-US" sz="1800" kern="100" dirty="0" err="1"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carrierCity</a:t>
            </a:r>
            <a:r>
              <a:rPr lang="en-US" sz="1800" kern="100" dirty="0"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 VARCHAR(45), </a:t>
            </a:r>
            <a:r>
              <a:rPr lang="en-US" sz="1800" kern="100" dirty="0" err="1"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carrierState</a:t>
            </a:r>
            <a:r>
              <a:rPr lang="en-US" sz="1800" kern="100" dirty="0"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 VARCHAR(2), </a:t>
            </a:r>
            <a:r>
              <a:rPr lang="en-US" sz="1800" kern="100" dirty="0" err="1"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carrierZip</a:t>
            </a:r>
            <a:r>
              <a:rPr lang="en-US" sz="1800" kern="100" dirty="0"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(5), </a:t>
            </a:r>
            <a:r>
              <a:rPr lang="en-US" sz="1800" kern="100" dirty="0" err="1"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carrierPhone</a:t>
            </a:r>
            <a:r>
              <a:rPr lang="en-US" sz="1800" kern="100" dirty="0"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 VARCHAR(20) </a:t>
            </a:r>
            <a:endParaRPr lang="en-US" sz="1800" kern="100" dirty="0">
              <a:effectLst/>
              <a:latin typeface="Calibri" panose="020F0502020204030204" pitchFamily="34" charset="0"/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pPr marL="0" marR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endParaRPr lang="en-US" sz="1800" kern="100" dirty="0">
              <a:effectLst/>
              <a:latin typeface="Calibri" panose="020F0502020204030204" pitchFamily="34" charset="0"/>
              <a:ea typeface="Calibri" panose="020F0502020204030204" pitchFamily="34" charset="0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949014453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5B0069F-7428-727F-64FB-EB5B3C3C32B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85330" y="804520"/>
            <a:ext cx="7772869" cy="1049235"/>
          </a:xfrm>
        </p:spPr>
        <p:txBody>
          <a:bodyPr>
            <a:normAutofit/>
          </a:bodyPr>
          <a:lstStyle/>
          <a:p>
            <a:pPr algn="ctr"/>
            <a:r>
              <a:rPr lang="en-US" sz="2800" dirty="0"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Database schema cont’d</a:t>
            </a:r>
            <a:endParaRPr lang="en-US" sz="28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pic>
        <p:nvPicPr>
          <p:cNvPr id="14" name="Picture 13">
            <a:extLst>
              <a:ext uri="{FF2B5EF4-FFF2-40B4-BE49-F238E27FC236}">
                <a16:creationId xmlns:a16="http://schemas.microsoft.com/office/drawing/2014/main" id="{9F1C3A15-DF3C-FFEA-3413-27E67D39A8E4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3842960"/>
            <a:ext cx="9144000" cy="424240"/>
          </a:xfrm>
          <a:prstGeom prst="rect">
            <a:avLst/>
          </a:prstGeom>
        </p:spPr>
      </p:pic>
      <p:pic>
        <p:nvPicPr>
          <p:cNvPr id="5" name="Picture 4">
            <a:extLst>
              <a:ext uri="{FF2B5EF4-FFF2-40B4-BE49-F238E27FC236}">
                <a16:creationId xmlns:a16="http://schemas.microsoft.com/office/drawing/2014/main" id="{44AD0AD7-EC2F-C853-088C-E7D5A9469D6D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1524000"/>
            <a:ext cx="9144000" cy="639006"/>
          </a:xfrm>
          <a:prstGeom prst="rect">
            <a:avLst/>
          </a:prstGeom>
        </p:spPr>
      </p:pic>
      <p:sp>
        <p:nvSpPr>
          <p:cNvPr id="7" name="TextBox 6">
            <a:extLst>
              <a:ext uri="{FF2B5EF4-FFF2-40B4-BE49-F238E27FC236}">
                <a16:creationId xmlns:a16="http://schemas.microsoft.com/office/drawing/2014/main" id="{59B46EDC-F0F3-38CD-27E1-3231BC58254A}"/>
              </a:ext>
            </a:extLst>
          </p:cNvPr>
          <p:cNvSpPr txBox="1"/>
          <p:nvPr/>
        </p:nvSpPr>
        <p:spPr>
          <a:xfrm>
            <a:off x="381000" y="2362200"/>
            <a:ext cx="8077199" cy="13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lang="en-US" sz="1800" kern="100" dirty="0"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PK: </a:t>
            </a:r>
            <a:r>
              <a:rPr lang="en-US" sz="1800" kern="100" dirty="0" err="1"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consigneeID</a:t>
            </a:r>
            <a:r>
              <a:rPr lang="en-US" sz="1800" kern="100" dirty="0"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 INT</a:t>
            </a:r>
            <a:endParaRPr lang="en-US" sz="1800" kern="100" dirty="0">
              <a:effectLst/>
              <a:latin typeface="Calibri" panose="020F0502020204030204" pitchFamily="34" charset="0"/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pPr marL="0" marR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lang="en-US" sz="1800" kern="100" dirty="0" err="1"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consigneeFname</a:t>
            </a:r>
            <a:r>
              <a:rPr lang="en-US" sz="1800" kern="100" dirty="0"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, consigneeLname, </a:t>
            </a:r>
            <a:r>
              <a:rPr lang="en-US" sz="1800" kern="100" dirty="0" err="1"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consigneeAddress</a:t>
            </a:r>
            <a:r>
              <a:rPr lang="en-US" sz="1800" kern="100" dirty="0"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, </a:t>
            </a:r>
            <a:r>
              <a:rPr lang="en-US" sz="1800" kern="100" dirty="0" err="1"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consigneeCity</a:t>
            </a:r>
            <a:r>
              <a:rPr lang="en-US" sz="1800" kern="100" dirty="0"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,  VARCHAR(45), </a:t>
            </a:r>
            <a:r>
              <a:rPr lang="en-US" sz="1800" kern="100" dirty="0" err="1"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consigneeState</a:t>
            </a:r>
            <a:r>
              <a:rPr lang="en-US" sz="1800" kern="100" dirty="0"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 VARCHAR(2), </a:t>
            </a:r>
            <a:r>
              <a:rPr lang="en-US" sz="1800" kern="100" dirty="0" err="1"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consigneeZip</a:t>
            </a:r>
            <a:r>
              <a:rPr lang="en-US" sz="1800" kern="100" dirty="0"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(5), </a:t>
            </a:r>
            <a:r>
              <a:rPr lang="en-US" sz="1800" kern="100" dirty="0" err="1"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consigneePhone</a:t>
            </a:r>
            <a:r>
              <a:rPr lang="en-US" sz="1800" kern="100" dirty="0"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 VARCHAR(20), consigneeEmail VARCHAR(255)</a:t>
            </a:r>
            <a:endParaRPr lang="en-US" sz="1800" kern="100" dirty="0">
              <a:effectLst/>
              <a:latin typeface="Calibri" panose="020F0502020204030204" pitchFamily="34" charset="0"/>
              <a:ea typeface="Calibri" panose="020F0502020204030204" pitchFamily="34" charset="0"/>
              <a:cs typeface="Times New Roman" panose="02020603050405020304" pitchFamily="18" charset="0"/>
            </a:endParaRPr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4C0A7492-26D0-AA9A-2A05-11AC51BD27D0}"/>
              </a:ext>
            </a:extLst>
          </p:cNvPr>
          <p:cNvSpPr txBox="1"/>
          <p:nvPr/>
        </p:nvSpPr>
        <p:spPr>
          <a:xfrm>
            <a:off x="457200" y="4444869"/>
            <a:ext cx="8077199" cy="13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lang="en-US" sz="1800" kern="100" dirty="0"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PK: </a:t>
            </a:r>
            <a:r>
              <a:rPr lang="en-US" sz="1800" kern="100" dirty="0" err="1"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shipmentID</a:t>
            </a:r>
            <a:r>
              <a:rPr lang="en-US" sz="1800" kern="100" dirty="0"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 INT</a:t>
            </a:r>
            <a:endParaRPr lang="en-US" sz="1800" kern="100" dirty="0">
              <a:effectLst/>
              <a:latin typeface="Calibri" panose="020F0502020204030204" pitchFamily="34" charset="0"/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pPr marL="0" marR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lang="en-US" sz="1800" kern="100" dirty="0"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PK: consignee ID INT</a:t>
            </a:r>
            <a:endParaRPr lang="en-US" sz="1800" kern="100" dirty="0">
              <a:effectLst/>
              <a:latin typeface="Calibri" panose="020F0502020204030204" pitchFamily="34" charset="0"/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pPr marL="0" marR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lang="en-US" sz="1800" kern="100" dirty="0"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FK: </a:t>
            </a:r>
            <a:r>
              <a:rPr lang="en-US" sz="1800" kern="100" dirty="0" err="1"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shipmentID</a:t>
            </a:r>
            <a:r>
              <a:rPr lang="en-US" sz="1800" kern="100" dirty="0"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 References shipment(</a:t>
            </a:r>
            <a:r>
              <a:rPr lang="en-US" sz="1800" kern="100" dirty="0" err="1"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shipmentID</a:t>
            </a:r>
            <a:r>
              <a:rPr lang="en-US" sz="1800" kern="100" dirty="0"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)</a:t>
            </a:r>
            <a:endParaRPr lang="en-US" sz="1800" kern="100" dirty="0">
              <a:effectLst/>
              <a:latin typeface="Calibri" panose="020F0502020204030204" pitchFamily="34" charset="0"/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pPr marL="0" marR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lang="en-US" sz="1800" kern="100" dirty="0"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FK: </a:t>
            </a:r>
            <a:r>
              <a:rPr lang="en-US" sz="1800" kern="100" dirty="0" err="1"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consigneeID</a:t>
            </a:r>
            <a:r>
              <a:rPr lang="en-US" sz="1800" kern="100" dirty="0"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 References consignee(</a:t>
            </a:r>
            <a:r>
              <a:rPr lang="en-US" sz="1800" kern="100" dirty="0" err="1"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consigneeID</a:t>
            </a:r>
            <a:r>
              <a:rPr lang="en-US" sz="1800" kern="100" dirty="0"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)</a:t>
            </a:r>
            <a:endParaRPr lang="en-US" sz="1800" kern="100" dirty="0">
              <a:effectLst/>
              <a:latin typeface="Calibri" panose="020F0502020204030204" pitchFamily="34" charset="0"/>
              <a:ea typeface="Calibri" panose="020F0502020204030204" pitchFamily="34" charset="0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258326486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5B0069F-7428-727F-64FB-EB5B3C3C32B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85330" y="804520"/>
            <a:ext cx="7772869" cy="1049235"/>
          </a:xfrm>
        </p:spPr>
        <p:txBody>
          <a:bodyPr>
            <a:normAutofit/>
          </a:bodyPr>
          <a:lstStyle/>
          <a:p>
            <a:pPr algn="ctr"/>
            <a:r>
              <a:rPr lang="en-US" sz="2800" dirty="0"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Database schema cont’d</a:t>
            </a:r>
            <a:endParaRPr lang="en-US" sz="28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pic>
        <p:nvPicPr>
          <p:cNvPr id="20" name="Picture 19">
            <a:extLst>
              <a:ext uri="{FF2B5EF4-FFF2-40B4-BE49-F238E27FC236}">
                <a16:creationId xmlns:a16="http://schemas.microsoft.com/office/drawing/2014/main" id="{9E7F3C4D-AC0E-7042-A2D6-E60CD3B681A3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1600200"/>
            <a:ext cx="9144000" cy="444455"/>
          </a:xfrm>
          <a:prstGeom prst="rect">
            <a:avLst/>
          </a:prstGeom>
        </p:spPr>
      </p:pic>
      <p:sp>
        <p:nvSpPr>
          <p:cNvPr id="3" name="TextBox 2">
            <a:extLst>
              <a:ext uri="{FF2B5EF4-FFF2-40B4-BE49-F238E27FC236}">
                <a16:creationId xmlns:a16="http://schemas.microsoft.com/office/drawing/2014/main" id="{409A0F83-9CE6-FAE0-674A-0A107A2C3E45}"/>
              </a:ext>
            </a:extLst>
          </p:cNvPr>
          <p:cNvSpPr txBox="1"/>
          <p:nvPr/>
        </p:nvSpPr>
        <p:spPr>
          <a:xfrm>
            <a:off x="838200" y="2133600"/>
            <a:ext cx="7315200" cy="70923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lang="en-US" sz="1800" kern="100" dirty="0"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PK: </a:t>
            </a:r>
            <a:r>
              <a:rPr lang="en-US" sz="1800" kern="100" dirty="0" err="1"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invoiceID</a:t>
            </a:r>
            <a:r>
              <a:rPr lang="en-US" sz="1800" kern="100" dirty="0"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 INT</a:t>
            </a:r>
            <a:endParaRPr lang="en-US" sz="1800" kern="100" dirty="0">
              <a:effectLst/>
              <a:latin typeface="Calibri" panose="020F0502020204030204" pitchFamily="34" charset="0"/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pPr marL="0" marR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lang="en-US" sz="1800" kern="100" dirty="0" err="1"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invoiceNumber</a:t>
            </a:r>
            <a:r>
              <a:rPr lang="en-US" sz="1800" kern="100" dirty="0"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 VARCHAR(50), </a:t>
            </a:r>
            <a:r>
              <a:rPr lang="en-US" sz="1800" kern="100" dirty="0" err="1"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InvoiceAmount</a:t>
            </a:r>
            <a:r>
              <a:rPr lang="en-US" sz="1800" kern="100" dirty="0"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 DECIMAL(10, 2)</a:t>
            </a:r>
            <a:endParaRPr lang="en-US" sz="1800" kern="100" dirty="0">
              <a:effectLst/>
              <a:latin typeface="Calibri" panose="020F0502020204030204" pitchFamily="34" charset="0"/>
              <a:ea typeface="Calibri" panose="020F0502020204030204" pitchFamily="34" charset="0"/>
              <a:cs typeface="Times New Roman" panose="02020603050405020304" pitchFamily="18" charset="0"/>
            </a:endParaRP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3E0B07B9-433D-7283-4040-1CF5C4A73111}"/>
              </a:ext>
            </a:extLst>
          </p:cNvPr>
          <p:cNvSpPr txBox="1"/>
          <p:nvPr/>
        </p:nvSpPr>
        <p:spPr>
          <a:xfrm>
            <a:off x="533400" y="3731572"/>
            <a:ext cx="8077200" cy="198342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lang="en-US" sz="1800" kern="100" dirty="0"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PK: </a:t>
            </a:r>
            <a:r>
              <a:rPr lang="en-US" sz="1800" kern="100" dirty="0" err="1"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shipmentID</a:t>
            </a:r>
            <a:r>
              <a:rPr lang="en-US" sz="1800" kern="100" dirty="0"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 INT</a:t>
            </a:r>
            <a:endParaRPr lang="en-US" sz="1800" kern="100" dirty="0">
              <a:effectLst/>
              <a:latin typeface="Calibri" panose="020F0502020204030204" pitchFamily="34" charset="0"/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pPr marL="0" marR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lang="en-US" sz="1800" kern="100" dirty="0"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FK: </a:t>
            </a:r>
            <a:r>
              <a:rPr lang="en-US" sz="1800" kern="100" dirty="0" err="1"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shipperID</a:t>
            </a:r>
            <a:r>
              <a:rPr lang="en-US" sz="1800" kern="100" dirty="0"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 References shipper(</a:t>
            </a:r>
            <a:r>
              <a:rPr lang="en-US" sz="1800" kern="100" dirty="0" err="1"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shipperID</a:t>
            </a:r>
            <a:r>
              <a:rPr lang="en-US" sz="1800" kern="100" dirty="0"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)</a:t>
            </a:r>
            <a:endParaRPr lang="en-US" sz="1800" kern="100" dirty="0">
              <a:effectLst/>
              <a:latin typeface="Calibri" panose="020F0502020204030204" pitchFamily="34" charset="0"/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pPr marL="0" marR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lang="en-US" sz="1800" kern="100" dirty="0"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FK: </a:t>
            </a:r>
            <a:r>
              <a:rPr lang="en-US" sz="1800" kern="100" dirty="0" err="1"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carrierID</a:t>
            </a:r>
            <a:r>
              <a:rPr lang="en-US" sz="1800" kern="100" dirty="0"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 References carrier(</a:t>
            </a:r>
            <a:r>
              <a:rPr lang="en-US" sz="1800" kern="100" dirty="0" err="1"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carriertID</a:t>
            </a:r>
            <a:r>
              <a:rPr lang="en-US" sz="1800" kern="100" dirty="0"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)</a:t>
            </a:r>
            <a:endParaRPr lang="en-US" sz="1800" kern="100" dirty="0">
              <a:effectLst/>
              <a:latin typeface="Calibri" panose="020F0502020204030204" pitchFamily="34" charset="0"/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pPr marL="0" marR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lang="en-US" sz="1800" kern="100" dirty="0"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FK: </a:t>
            </a:r>
            <a:r>
              <a:rPr lang="en-US" sz="1800" kern="100" dirty="0" err="1"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invoiceID</a:t>
            </a:r>
            <a:r>
              <a:rPr lang="en-US" sz="1800" kern="100" dirty="0"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 References invoice(</a:t>
            </a:r>
            <a:r>
              <a:rPr lang="en-US" sz="1800" kern="100" dirty="0" err="1"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invoiceID</a:t>
            </a:r>
            <a:r>
              <a:rPr lang="en-US" sz="1800" kern="100" dirty="0"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)</a:t>
            </a:r>
            <a:endParaRPr lang="en-US" sz="1800" kern="100" dirty="0">
              <a:effectLst/>
              <a:latin typeface="Calibri" panose="020F0502020204030204" pitchFamily="34" charset="0"/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pPr marL="0" marR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lang="en-US" sz="1800" kern="100" dirty="0" err="1"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shipmentDate</a:t>
            </a:r>
            <a:r>
              <a:rPr lang="en-US" sz="1800" kern="100" dirty="0"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, arrivalDate DATE, </a:t>
            </a:r>
            <a:r>
              <a:rPr lang="en-US" sz="1800" kern="100" dirty="0" err="1"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originCity</a:t>
            </a:r>
            <a:r>
              <a:rPr lang="en-US" sz="1800" kern="100" dirty="0"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, </a:t>
            </a:r>
            <a:r>
              <a:rPr lang="en-US" sz="1800" kern="100" dirty="0" err="1"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destinationCity</a:t>
            </a:r>
            <a:r>
              <a:rPr lang="en-US" sz="1800" kern="100" dirty="0"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 VARCHAR(45), trackingNumber VARCHAR(6), </a:t>
            </a:r>
            <a:r>
              <a:rPr lang="en-US" sz="1800" kern="100" dirty="0" err="1"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durationOfShipmentInDays</a:t>
            </a:r>
            <a:r>
              <a:rPr lang="en-US" sz="1800" kern="100" dirty="0"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 INT</a:t>
            </a:r>
            <a:endParaRPr lang="en-US" sz="1800" kern="100" dirty="0">
              <a:effectLst/>
              <a:latin typeface="Calibri" panose="020F0502020204030204" pitchFamily="34" charset="0"/>
              <a:ea typeface="Calibri" panose="020F0502020204030204" pitchFamily="34" charset="0"/>
              <a:cs typeface="Times New Roman" panose="02020603050405020304" pitchFamily="18" charset="0"/>
            </a:endParaRPr>
          </a:p>
        </p:txBody>
      </p:sp>
      <p:pic>
        <p:nvPicPr>
          <p:cNvPr id="6" name="Picture 5">
            <a:extLst>
              <a:ext uri="{FF2B5EF4-FFF2-40B4-BE49-F238E27FC236}">
                <a16:creationId xmlns:a16="http://schemas.microsoft.com/office/drawing/2014/main" id="{F4D98F82-E05D-9281-E3D5-961A0C454C39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3048000"/>
            <a:ext cx="9144000" cy="5766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578188589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5B0069F-7428-727F-64FB-EB5B3C3C32B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85330" y="804520"/>
            <a:ext cx="7772869" cy="1049235"/>
          </a:xfrm>
        </p:spPr>
        <p:txBody>
          <a:bodyPr>
            <a:normAutofit/>
          </a:bodyPr>
          <a:lstStyle/>
          <a:p>
            <a:pPr algn="ctr"/>
            <a:r>
              <a:rPr lang="en-US" sz="2800" dirty="0"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Database schema cont’d</a:t>
            </a:r>
            <a:endParaRPr lang="en-US" sz="28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pic>
        <p:nvPicPr>
          <p:cNvPr id="6" name="Picture 5">
            <a:extLst>
              <a:ext uri="{FF2B5EF4-FFF2-40B4-BE49-F238E27FC236}">
                <a16:creationId xmlns:a16="http://schemas.microsoft.com/office/drawing/2014/main" id="{BD230C2B-801D-21CE-CF72-F7BE052E633B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1524000"/>
            <a:ext cx="9144000" cy="648000"/>
          </a:xfrm>
          <a:prstGeom prst="rect">
            <a:avLst/>
          </a:prstGeom>
        </p:spPr>
      </p:pic>
      <p:sp>
        <p:nvSpPr>
          <p:cNvPr id="5" name="TextBox 4">
            <a:extLst>
              <a:ext uri="{FF2B5EF4-FFF2-40B4-BE49-F238E27FC236}">
                <a16:creationId xmlns:a16="http://schemas.microsoft.com/office/drawing/2014/main" id="{A1A54183-3D7C-D1D3-E8D5-310B720FE39B}"/>
              </a:ext>
            </a:extLst>
          </p:cNvPr>
          <p:cNvSpPr txBox="1"/>
          <p:nvPr/>
        </p:nvSpPr>
        <p:spPr>
          <a:xfrm>
            <a:off x="381000" y="2438400"/>
            <a:ext cx="8381999" cy="13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lang="en-US" sz="1800" kern="100" dirty="0"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PK: </a:t>
            </a:r>
            <a:r>
              <a:rPr lang="en-US" sz="1800" kern="100" dirty="0" err="1"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shipmentID</a:t>
            </a:r>
            <a:r>
              <a:rPr lang="en-US" sz="1800" kern="100" dirty="0"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 INT</a:t>
            </a:r>
            <a:endParaRPr lang="en-US" sz="1800" kern="100" dirty="0">
              <a:effectLst/>
              <a:latin typeface="Calibri" panose="020F0502020204030204" pitchFamily="34" charset="0"/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pPr marL="0" marR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lang="en-US" sz="1800" kern="100" dirty="0" err="1"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shipperFname</a:t>
            </a:r>
            <a:r>
              <a:rPr lang="en-US" sz="1800" kern="100" dirty="0"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, </a:t>
            </a:r>
            <a:r>
              <a:rPr lang="en-US" sz="1800" kern="100" dirty="0" err="1"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shipperLname</a:t>
            </a:r>
            <a:r>
              <a:rPr lang="en-US" sz="1800" kern="100" dirty="0"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, </a:t>
            </a:r>
            <a:r>
              <a:rPr lang="en-US" sz="1800" kern="100" dirty="0" err="1"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shipperAddress</a:t>
            </a:r>
            <a:r>
              <a:rPr lang="en-US" sz="1800" kern="100" dirty="0"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, </a:t>
            </a:r>
            <a:r>
              <a:rPr lang="en-US" sz="1800" kern="100" dirty="0" err="1"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shipperCity</a:t>
            </a:r>
            <a:r>
              <a:rPr lang="en-US" sz="1800" kern="100" dirty="0"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,  VARCHAR(45), </a:t>
            </a:r>
            <a:r>
              <a:rPr lang="en-US" sz="1800" kern="100" dirty="0" err="1"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shipperState</a:t>
            </a:r>
            <a:r>
              <a:rPr lang="en-US" sz="1800" kern="100" dirty="0"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 VARCHAR(2), </a:t>
            </a:r>
            <a:r>
              <a:rPr lang="en-US" sz="1800" kern="100" dirty="0" err="1"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shipperZip</a:t>
            </a:r>
            <a:r>
              <a:rPr lang="en-US" sz="1800" kern="100" dirty="0"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(5), </a:t>
            </a:r>
            <a:r>
              <a:rPr lang="en-US" sz="1800" kern="100" dirty="0" err="1"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shipperPhone</a:t>
            </a:r>
            <a:r>
              <a:rPr lang="en-US" sz="1800" kern="100" dirty="0"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 VARCHAR(20), </a:t>
            </a:r>
            <a:r>
              <a:rPr lang="en-US" sz="1800" kern="100" dirty="0" err="1"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shipperEmail</a:t>
            </a:r>
            <a:r>
              <a:rPr lang="en-US" sz="1800" kern="100" dirty="0"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 VARCHAR(255)</a:t>
            </a:r>
            <a:endParaRPr lang="en-US" sz="1800" kern="100" dirty="0">
              <a:effectLst/>
              <a:latin typeface="Calibri" panose="020F0502020204030204" pitchFamily="34" charset="0"/>
              <a:ea typeface="Calibri" panose="020F0502020204030204" pitchFamily="34" charset="0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553059786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EF3D6DA-28FB-93D2-2FF7-335A6A3C03B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pPr algn="ctr"/>
            <a:r>
              <a:rPr lang="en-US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Database design er model</a:t>
            </a:r>
          </a:p>
        </p:txBody>
      </p:sp>
      <p:pic>
        <p:nvPicPr>
          <p:cNvPr id="11" name="Content Placeholder 10" descr="Diagram&#10;&#10;Description automatically generated">
            <a:extLst>
              <a:ext uri="{FF2B5EF4-FFF2-40B4-BE49-F238E27FC236}">
                <a16:creationId xmlns:a16="http://schemas.microsoft.com/office/drawing/2014/main" id="{54445006-E6CF-CB94-C9F5-6E83D80C5B8A}"/>
              </a:ext>
            </a:extLst>
          </p:cNvPr>
          <p:cNvPicPr>
            <a:picLocks noGrp="1" noChangeAspect="1"/>
          </p:cNvPicPr>
          <p:nvPr>
            <p:ph sz="quarter" idx="13"/>
          </p:nvPr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394014" y="1447800"/>
            <a:ext cx="6606986" cy="5105399"/>
          </a:xfrm>
          <a:prstGeom prst="rect">
            <a:avLst/>
          </a:prstGeom>
          <a:ln w="38100" cap="sq">
            <a:solidFill>
              <a:srgbClr val="000000"/>
            </a:solidFill>
            <a:prstDash val="solid"/>
            <a:miter lim="800000"/>
          </a:ln>
          <a:effectLst>
            <a:outerShdw blurRad="50800" dist="38100" dir="2700000" algn="tl" rotWithShape="0">
              <a:srgbClr val="000000">
                <a:alpha val="43000"/>
              </a:srgbClr>
            </a:outerShdw>
          </a:effectLst>
        </p:spPr>
      </p:pic>
    </p:spTree>
    <p:extLst>
      <p:ext uri="{BB962C8B-B14F-4D97-AF65-F5344CB8AC3E}">
        <p14:creationId xmlns:p14="http://schemas.microsoft.com/office/powerpoint/2010/main" val="2241205535"/>
      </p:ext>
    </p:extLst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EF3D6DA-28FB-93D2-2FF7-335A6A3C03B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pPr algn="ctr"/>
            <a:r>
              <a:rPr lang="en-US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Database design ER diagram</a:t>
            </a:r>
          </a:p>
        </p:txBody>
      </p:sp>
      <p:pic>
        <p:nvPicPr>
          <p:cNvPr id="8" name="Content Placeholder 7" descr="Diagram&#10;&#10;Description automatically generated">
            <a:extLst>
              <a:ext uri="{FF2B5EF4-FFF2-40B4-BE49-F238E27FC236}">
                <a16:creationId xmlns:a16="http://schemas.microsoft.com/office/drawing/2014/main" id="{DA49E102-4B0E-B03D-C230-24D642EB617C}"/>
              </a:ext>
            </a:extLst>
          </p:cNvPr>
          <p:cNvPicPr>
            <a:picLocks noGrp="1" noChangeAspect="1"/>
          </p:cNvPicPr>
          <p:nvPr>
            <p:ph sz="quarter" idx="13"/>
          </p:nvPr>
        </p:nvPicPr>
        <p:blipFill rotWithShape="1"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b="46731"/>
          <a:stretch/>
        </p:blipFill>
        <p:spPr>
          <a:xfrm>
            <a:off x="1219200" y="1371600"/>
            <a:ext cx="6854420" cy="5257800"/>
          </a:xfrm>
          <a:prstGeom prst="rect">
            <a:avLst/>
          </a:prstGeom>
          <a:ln w="38100" cap="sq">
            <a:solidFill>
              <a:srgbClr val="000000"/>
            </a:solidFill>
            <a:prstDash val="solid"/>
            <a:miter lim="800000"/>
          </a:ln>
          <a:effectLst>
            <a:outerShdw blurRad="50800" dist="38100" dir="2700000" algn="tl" rotWithShape="0">
              <a:srgbClr val="000000">
                <a:alpha val="43000"/>
              </a:srgbClr>
            </a:outerShdw>
          </a:effectLst>
        </p:spPr>
      </p:pic>
    </p:spTree>
    <p:extLst>
      <p:ext uri="{BB962C8B-B14F-4D97-AF65-F5344CB8AC3E}">
        <p14:creationId xmlns:p14="http://schemas.microsoft.com/office/powerpoint/2010/main" val="750032355"/>
      </p:ext>
    </p:extLst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86526DD-BCDA-504C-B849-BAC25B2493B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85330" y="804520"/>
            <a:ext cx="7772869" cy="1049235"/>
          </a:xfrm>
        </p:spPr>
        <p:txBody>
          <a:bodyPr>
            <a:normAutofit/>
          </a:bodyPr>
          <a:lstStyle/>
          <a:p>
            <a:pPr algn="ctr"/>
            <a:r>
              <a:rPr lang="en-US" sz="2800" dirty="0"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DDL Usage for database and table creation</a:t>
            </a:r>
            <a:endParaRPr lang="en-US" sz="28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pic>
        <p:nvPicPr>
          <p:cNvPr id="5" name="Content Placeholder 4" descr="Graphical user interface, application&#10;&#10;Description automatically generated">
            <a:extLst>
              <a:ext uri="{FF2B5EF4-FFF2-40B4-BE49-F238E27FC236}">
                <a16:creationId xmlns:a16="http://schemas.microsoft.com/office/drawing/2014/main" id="{3B9F8255-7789-4AD2-68BB-7AB6BDBB6C38}"/>
              </a:ext>
            </a:extLst>
          </p:cNvPr>
          <p:cNvPicPr>
            <a:picLocks noGrp="1" noChangeAspect="1"/>
          </p:cNvPicPr>
          <p:nvPr>
            <p:ph sz="quarter" idx="13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52400" y="3200400"/>
            <a:ext cx="4541520" cy="1036320"/>
          </a:xfrm>
          <a:prstGeom prst="rect">
            <a:avLst/>
          </a:prstGeom>
          <a:ln w="38100" cap="sq">
            <a:solidFill>
              <a:srgbClr val="000000"/>
            </a:solidFill>
            <a:prstDash val="solid"/>
            <a:miter lim="800000"/>
          </a:ln>
          <a:effectLst>
            <a:outerShdw blurRad="50800" dist="38100" dir="2700000" algn="tl" rotWithShape="0">
              <a:srgbClr val="000000">
                <a:alpha val="43000"/>
              </a:srgbClr>
            </a:outerShdw>
          </a:effectLst>
        </p:spPr>
      </p:pic>
      <p:pic>
        <p:nvPicPr>
          <p:cNvPr id="7" name="Picture 6" descr="Graphical user interface, text, application&#10;&#10;Description automatically generated">
            <a:extLst>
              <a:ext uri="{FF2B5EF4-FFF2-40B4-BE49-F238E27FC236}">
                <a16:creationId xmlns:a16="http://schemas.microsoft.com/office/drawing/2014/main" id="{24D4DD21-C533-B0C2-85C5-770986D5861A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800600" y="2057399"/>
            <a:ext cx="4223994" cy="3100053"/>
          </a:xfrm>
          <a:prstGeom prst="rect">
            <a:avLst/>
          </a:prstGeom>
          <a:ln w="38100" cap="sq">
            <a:solidFill>
              <a:srgbClr val="000000"/>
            </a:solidFill>
            <a:prstDash val="solid"/>
            <a:miter lim="800000"/>
          </a:ln>
          <a:effectLst>
            <a:outerShdw blurRad="50800" dist="38100" dir="2700000" algn="tl" rotWithShape="0">
              <a:srgbClr val="000000">
                <a:alpha val="43000"/>
              </a:srgbClr>
            </a:outerShdw>
          </a:effectLst>
        </p:spPr>
      </p:pic>
    </p:spTree>
    <p:extLst>
      <p:ext uri="{BB962C8B-B14F-4D97-AF65-F5344CB8AC3E}">
        <p14:creationId xmlns:p14="http://schemas.microsoft.com/office/powerpoint/2010/main" val="3897931840"/>
      </p:ext>
    </p:extLst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A3DD836-DB4B-D485-C02E-88783011894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85330" y="246165"/>
            <a:ext cx="7772869" cy="1049235"/>
          </a:xfrm>
        </p:spPr>
        <p:txBody>
          <a:bodyPr>
            <a:normAutofit/>
          </a:bodyPr>
          <a:lstStyle/>
          <a:p>
            <a:pPr algn="ctr"/>
            <a:r>
              <a:rPr lang="en-US" sz="2800" dirty="0"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Database population</a:t>
            </a:r>
            <a:endParaRPr lang="en-US" sz="28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pic>
        <p:nvPicPr>
          <p:cNvPr id="5" name="Content Placeholder 4" descr="Text&#10;&#10;Description automatically generated">
            <a:extLst>
              <a:ext uri="{FF2B5EF4-FFF2-40B4-BE49-F238E27FC236}">
                <a16:creationId xmlns:a16="http://schemas.microsoft.com/office/drawing/2014/main" id="{2F3AAC68-87E8-B1A8-3567-AF8B6EE8BB95}"/>
              </a:ext>
            </a:extLst>
          </p:cNvPr>
          <p:cNvPicPr>
            <a:picLocks noGrp="1" noChangeAspect="1"/>
          </p:cNvPicPr>
          <p:nvPr>
            <p:ph sz="quarter" idx="13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85800" y="1066800"/>
            <a:ext cx="7772400" cy="2471856"/>
          </a:xfrm>
          <a:prstGeom prst="rect">
            <a:avLst/>
          </a:prstGeom>
          <a:ln w="38100" cap="sq">
            <a:solidFill>
              <a:srgbClr val="000000"/>
            </a:solidFill>
            <a:prstDash val="solid"/>
            <a:miter lim="800000"/>
          </a:ln>
          <a:effectLst>
            <a:outerShdw blurRad="50800" dist="38100" dir="2700000" algn="tl" rotWithShape="0">
              <a:srgbClr val="000000">
                <a:alpha val="43000"/>
              </a:srgbClr>
            </a:outerShdw>
          </a:effectLst>
        </p:spPr>
      </p:pic>
      <p:pic>
        <p:nvPicPr>
          <p:cNvPr id="7" name="Picture 6" descr="Graphical user interface, application&#10;&#10;Description automatically generated">
            <a:extLst>
              <a:ext uri="{FF2B5EF4-FFF2-40B4-BE49-F238E27FC236}">
                <a16:creationId xmlns:a16="http://schemas.microsoft.com/office/drawing/2014/main" id="{03686020-58CE-2227-192F-ADFEA486B928}"/>
              </a:ext>
            </a:extLst>
          </p:cNvPr>
          <p:cNvPicPr>
            <a:picLocks noChangeAspect="1"/>
          </p:cNvPicPr>
          <p:nvPr/>
        </p:nvPicPr>
        <p:blipFill rotWithShape="1"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b="36748"/>
          <a:stretch/>
        </p:blipFill>
        <p:spPr>
          <a:xfrm>
            <a:off x="685330" y="3726369"/>
            <a:ext cx="7772400" cy="1836231"/>
          </a:xfrm>
          <a:prstGeom prst="rect">
            <a:avLst/>
          </a:prstGeom>
          <a:ln w="38100" cap="sq">
            <a:solidFill>
              <a:srgbClr val="000000"/>
            </a:solidFill>
            <a:prstDash val="solid"/>
            <a:miter lim="800000"/>
          </a:ln>
          <a:effectLst>
            <a:outerShdw blurRad="50800" dist="38100" dir="2700000" algn="tl" rotWithShape="0">
              <a:srgbClr val="000000">
                <a:alpha val="43000"/>
              </a:srgbClr>
            </a:outerShdw>
          </a:effectLst>
        </p:spPr>
      </p:pic>
    </p:spTree>
    <p:extLst>
      <p:ext uri="{BB962C8B-B14F-4D97-AF65-F5344CB8AC3E}">
        <p14:creationId xmlns:p14="http://schemas.microsoft.com/office/powerpoint/2010/main" val="275969158"/>
      </p:ext>
    </p:extLst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A3DD836-DB4B-D485-C02E-88783011894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85330" y="804520"/>
            <a:ext cx="7772869" cy="1049235"/>
          </a:xfrm>
        </p:spPr>
        <p:txBody>
          <a:bodyPr>
            <a:normAutofit/>
          </a:bodyPr>
          <a:lstStyle/>
          <a:p>
            <a:pPr algn="ctr"/>
            <a:r>
              <a:rPr lang="en-US" sz="2800" dirty="0"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Database population cont’d</a:t>
            </a:r>
            <a:endParaRPr lang="en-US" sz="28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pic>
        <p:nvPicPr>
          <p:cNvPr id="8" name="Content Placeholder 7" descr="Graphical user interface, text, application&#10;&#10;Description automatically generated">
            <a:extLst>
              <a:ext uri="{FF2B5EF4-FFF2-40B4-BE49-F238E27FC236}">
                <a16:creationId xmlns:a16="http://schemas.microsoft.com/office/drawing/2014/main" id="{8EAD7CE3-8B1A-4FF9-F1AE-C65D3452CD1B}"/>
              </a:ext>
            </a:extLst>
          </p:cNvPr>
          <p:cNvPicPr>
            <a:picLocks noGrp="1" noChangeAspect="1"/>
          </p:cNvPicPr>
          <p:nvPr>
            <p:ph sz="quarter" idx="13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52400" y="1662260"/>
            <a:ext cx="5034404" cy="3073924"/>
          </a:xfrm>
          <a:prstGeom prst="rect">
            <a:avLst/>
          </a:prstGeom>
          <a:ln w="38100" cap="sq">
            <a:solidFill>
              <a:srgbClr val="000000"/>
            </a:solidFill>
            <a:prstDash val="solid"/>
            <a:miter lim="800000"/>
          </a:ln>
          <a:effectLst>
            <a:outerShdw blurRad="50800" dist="38100" dir="2700000" algn="tl" rotWithShape="0">
              <a:srgbClr val="000000">
                <a:alpha val="43000"/>
              </a:srgbClr>
            </a:outerShdw>
          </a:effectLst>
        </p:spPr>
      </p:pic>
      <p:pic>
        <p:nvPicPr>
          <p:cNvPr id="10" name="Picture 9" descr="Table&#10;&#10;Description automatically generated">
            <a:extLst>
              <a:ext uri="{FF2B5EF4-FFF2-40B4-BE49-F238E27FC236}">
                <a16:creationId xmlns:a16="http://schemas.microsoft.com/office/drawing/2014/main" id="{9C75377F-6D55-B655-F762-8FE563A92A27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270088" y="1662260"/>
            <a:ext cx="3831520" cy="3073924"/>
          </a:xfrm>
          <a:prstGeom prst="rect">
            <a:avLst/>
          </a:prstGeom>
          <a:ln w="38100" cap="sq">
            <a:solidFill>
              <a:srgbClr val="000000"/>
            </a:solidFill>
            <a:prstDash val="solid"/>
            <a:miter lim="800000"/>
          </a:ln>
          <a:effectLst>
            <a:outerShdw blurRad="50800" dist="38100" dir="2700000" algn="tl" rotWithShape="0">
              <a:srgbClr val="000000">
                <a:alpha val="43000"/>
              </a:srgbClr>
            </a:outerShdw>
          </a:effectLst>
        </p:spPr>
      </p:pic>
    </p:spTree>
    <p:extLst>
      <p:ext uri="{BB962C8B-B14F-4D97-AF65-F5344CB8AC3E}">
        <p14:creationId xmlns:p14="http://schemas.microsoft.com/office/powerpoint/2010/main" val="913241223"/>
      </p:ext>
    </p:extLst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A3DD836-DB4B-D485-C02E-88783011894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85330" y="246165"/>
            <a:ext cx="7772869" cy="1049235"/>
          </a:xfrm>
        </p:spPr>
        <p:txBody>
          <a:bodyPr>
            <a:normAutofit/>
          </a:bodyPr>
          <a:lstStyle/>
          <a:p>
            <a:pPr algn="ctr"/>
            <a:r>
              <a:rPr lang="en-US" sz="2800" dirty="0"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Database manipulation with MySQL usage</a:t>
            </a:r>
            <a:endParaRPr lang="en-US" sz="28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pic>
        <p:nvPicPr>
          <p:cNvPr id="6" name="Picture 5" descr="Graphical user interface, application, table&#10;&#10;Description automatically generated">
            <a:extLst>
              <a:ext uri="{FF2B5EF4-FFF2-40B4-BE49-F238E27FC236}">
                <a16:creationId xmlns:a16="http://schemas.microsoft.com/office/drawing/2014/main" id="{A0DF5DDF-ED18-B424-9230-E98C2B5BF319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22910" y="1295400"/>
            <a:ext cx="8035289" cy="3200400"/>
          </a:xfrm>
          <a:prstGeom prst="rect">
            <a:avLst/>
          </a:prstGeom>
          <a:ln w="38100" cap="sq">
            <a:solidFill>
              <a:srgbClr val="000000"/>
            </a:solidFill>
            <a:prstDash val="solid"/>
            <a:miter lim="800000"/>
          </a:ln>
          <a:effectLst>
            <a:outerShdw blurRad="50800" dist="38100" dir="2700000" algn="tl" rotWithShape="0">
              <a:srgbClr val="000000">
                <a:alpha val="43000"/>
              </a:srgbClr>
            </a:outerShdw>
          </a:effectLst>
        </p:spPr>
      </p:pic>
      <p:pic>
        <p:nvPicPr>
          <p:cNvPr id="9" name="Picture 8" descr="Graphical user interface, text, email&#10;&#10;Description automatically generated">
            <a:extLst>
              <a:ext uri="{FF2B5EF4-FFF2-40B4-BE49-F238E27FC236}">
                <a16:creationId xmlns:a16="http://schemas.microsoft.com/office/drawing/2014/main" id="{06B01CC1-24FE-F449-037F-4E2629725397}"/>
              </a:ext>
            </a:extLst>
          </p:cNvPr>
          <p:cNvPicPr>
            <a:picLocks noChangeAspect="1"/>
          </p:cNvPicPr>
          <p:nvPr/>
        </p:nvPicPr>
        <p:blipFill rotWithShape="1"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b="21303"/>
          <a:stretch/>
        </p:blipFill>
        <p:spPr>
          <a:xfrm>
            <a:off x="422910" y="4648200"/>
            <a:ext cx="8035289" cy="1905000"/>
          </a:xfrm>
          <a:prstGeom prst="rect">
            <a:avLst/>
          </a:prstGeom>
          <a:ln w="38100" cap="sq">
            <a:solidFill>
              <a:srgbClr val="000000"/>
            </a:solidFill>
            <a:prstDash val="solid"/>
            <a:miter lim="800000"/>
          </a:ln>
          <a:effectLst>
            <a:outerShdw blurRad="50800" dist="38100" dir="2700000" algn="tl" rotWithShape="0">
              <a:srgbClr val="000000">
                <a:alpha val="43000"/>
              </a:srgbClr>
            </a:outerShdw>
          </a:effectLst>
        </p:spPr>
      </p:pic>
    </p:spTree>
    <p:extLst>
      <p:ext uri="{BB962C8B-B14F-4D97-AF65-F5344CB8AC3E}">
        <p14:creationId xmlns:p14="http://schemas.microsoft.com/office/powerpoint/2010/main" val="2425366876"/>
      </p:ext>
    </p:extLst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A3DD836-DB4B-D485-C02E-88783011894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85330" y="804520"/>
            <a:ext cx="7772869" cy="1049235"/>
          </a:xfrm>
        </p:spPr>
        <p:txBody>
          <a:bodyPr>
            <a:normAutofit/>
          </a:bodyPr>
          <a:lstStyle/>
          <a:p>
            <a:pPr algn="ctr"/>
            <a:r>
              <a:rPr lang="en-US" sz="2800" dirty="0"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Database manipulation with MySQL usage cont’d</a:t>
            </a:r>
            <a:endParaRPr lang="en-US" sz="28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pic>
        <p:nvPicPr>
          <p:cNvPr id="4" name="Picture 3" descr="Graphical user interface, text, table, email&#10;&#10;Description automatically generated">
            <a:extLst>
              <a:ext uri="{FF2B5EF4-FFF2-40B4-BE49-F238E27FC236}">
                <a16:creationId xmlns:a16="http://schemas.microsoft.com/office/drawing/2014/main" id="{F8428B56-AB68-CA11-1695-3693351F50E5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76300" y="3771900"/>
            <a:ext cx="7391400" cy="2857500"/>
          </a:xfrm>
          <a:prstGeom prst="rect">
            <a:avLst/>
          </a:prstGeom>
          <a:ln w="38100" cap="sq">
            <a:solidFill>
              <a:srgbClr val="000000"/>
            </a:solidFill>
            <a:prstDash val="solid"/>
            <a:miter lim="800000"/>
          </a:ln>
          <a:effectLst>
            <a:outerShdw blurRad="50800" dist="38100" dir="2700000" algn="tl" rotWithShape="0">
              <a:srgbClr val="000000">
                <a:alpha val="43000"/>
              </a:srgbClr>
            </a:outerShdw>
          </a:effectLst>
        </p:spPr>
      </p:pic>
      <p:pic>
        <p:nvPicPr>
          <p:cNvPr id="5" name="Picture 4" descr="Table&#10;&#10;Description automatically generated">
            <a:extLst>
              <a:ext uri="{FF2B5EF4-FFF2-40B4-BE49-F238E27FC236}">
                <a16:creationId xmlns:a16="http://schemas.microsoft.com/office/drawing/2014/main" id="{983A5CF9-5A5C-B4CC-1B83-D23A2BB9807F}"/>
              </a:ext>
            </a:extLst>
          </p:cNvPr>
          <p:cNvPicPr>
            <a:picLocks noChangeAspect="1"/>
          </p:cNvPicPr>
          <p:nvPr/>
        </p:nvPicPr>
        <p:blipFill rotWithShape="1"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b="34267"/>
          <a:stretch/>
        </p:blipFill>
        <p:spPr>
          <a:xfrm>
            <a:off x="2895600" y="1703070"/>
            <a:ext cx="3352800" cy="1878330"/>
          </a:xfrm>
          <a:prstGeom prst="rect">
            <a:avLst/>
          </a:prstGeom>
          <a:ln w="38100" cap="sq">
            <a:solidFill>
              <a:srgbClr val="000000"/>
            </a:solidFill>
            <a:prstDash val="solid"/>
            <a:miter lim="800000"/>
          </a:ln>
          <a:effectLst>
            <a:outerShdw blurRad="50800" dist="38100" dir="2700000" algn="tl" rotWithShape="0">
              <a:srgbClr val="000000">
                <a:alpha val="43000"/>
              </a:srgbClr>
            </a:outerShdw>
          </a:effectLst>
        </p:spPr>
      </p:pic>
    </p:spTree>
    <p:extLst>
      <p:ext uri="{BB962C8B-B14F-4D97-AF65-F5344CB8AC3E}">
        <p14:creationId xmlns:p14="http://schemas.microsoft.com/office/powerpoint/2010/main" val="585224804"/>
      </p:ext>
    </p:extLst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A3DD836-DB4B-D485-C02E-88783011894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85330" y="304800"/>
            <a:ext cx="7772869" cy="1049235"/>
          </a:xfrm>
        </p:spPr>
        <p:txBody>
          <a:bodyPr>
            <a:normAutofit/>
          </a:bodyPr>
          <a:lstStyle/>
          <a:p>
            <a:pPr algn="ctr"/>
            <a:r>
              <a:rPr lang="en-US" sz="2800" dirty="0"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Database manipulation with MySQL usage cont’d</a:t>
            </a:r>
            <a:endParaRPr lang="en-US" sz="28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pic>
        <p:nvPicPr>
          <p:cNvPr id="6" name="Picture 5" descr="Table&#10;&#10;Description automatically generated">
            <a:extLst>
              <a:ext uri="{FF2B5EF4-FFF2-40B4-BE49-F238E27FC236}">
                <a16:creationId xmlns:a16="http://schemas.microsoft.com/office/drawing/2014/main" id="{6D1A612D-88B2-D520-A301-C25FED8F335D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219200" y="1325880"/>
            <a:ext cx="6880860" cy="5151120"/>
          </a:xfrm>
          <a:prstGeom prst="rect">
            <a:avLst/>
          </a:prstGeom>
          <a:ln w="38100" cap="sq">
            <a:solidFill>
              <a:srgbClr val="000000"/>
            </a:solidFill>
            <a:prstDash val="solid"/>
            <a:miter lim="800000"/>
          </a:ln>
          <a:effectLst>
            <a:outerShdw blurRad="50800" dist="38100" dir="2700000" algn="tl" rotWithShape="0">
              <a:srgbClr val="000000">
                <a:alpha val="43000"/>
              </a:srgbClr>
            </a:outerShdw>
          </a:effectLst>
        </p:spPr>
      </p:pic>
    </p:spTree>
    <p:extLst>
      <p:ext uri="{BB962C8B-B14F-4D97-AF65-F5344CB8AC3E}">
        <p14:creationId xmlns:p14="http://schemas.microsoft.com/office/powerpoint/2010/main" val="369591030"/>
      </p:ext>
    </p:extLst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2E38225-193F-0CD9-B4D9-DDD40D17ACC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295400" y="2684565"/>
            <a:ext cx="6571343" cy="1049235"/>
          </a:xfrm>
        </p:spPr>
        <p:txBody>
          <a:bodyPr/>
          <a:lstStyle/>
          <a:p>
            <a:pPr algn="ctr"/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Section 4</a:t>
            </a:r>
            <a:b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</a:b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Discussion and conclusion</a:t>
            </a:r>
          </a:p>
        </p:txBody>
      </p:sp>
    </p:spTree>
    <p:extLst>
      <p:ext uri="{BB962C8B-B14F-4D97-AF65-F5344CB8AC3E}">
        <p14:creationId xmlns:p14="http://schemas.microsoft.com/office/powerpoint/2010/main" val="880214693"/>
      </p:ext>
    </p:extLst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BB73118-3780-DA92-A5BD-AB59AE0C96E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85330" y="322365"/>
            <a:ext cx="7772869" cy="1049235"/>
          </a:xfrm>
        </p:spPr>
        <p:txBody>
          <a:bodyPr>
            <a:normAutofit/>
          </a:bodyPr>
          <a:lstStyle/>
          <a:p>
            <a:pPr algn="ctr"/>
            <a:r>
              <a:rPr lang="en-US" sz="2800" dirty="0"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Deliverables challenges faced and solutions</a:t>
            </a:r>
            <a:endParaRPr lang="en-US" sz="28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1D79E2F4-F197-8C48-4371-15971A1FA4B5}"/>
              </a:ext>
            </a:extLst>
          </p:cNvPr>
          <p:cNvSpPr>
            <a:spLocks noGrp="1"/>
          </p:cNvSpPr>
          <p:nvPr>
            <p:ph sz="quarter" idx="13"/>
          </p:nvPr>
        </p:nvSpPr>
        <p:spPr>
          <a:xfrm>
            <a:off x="228600" y="1447800"/>
            <a:ext cx="8686800" cy="4572000"/>
          </a:xfrm>
        </p:spPr>
        <p:txBody>
          <a:bodyPr>
            <a:normAutofit fontScale="92500"/>
          </a:bodyPr>
          <a:lstStyle/>
          <a:p>
            <a:r>
              <a:rPr lang="en-US" sz="1900" kern="100" dirty="0"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1) Database Schema development</a:t>
            </a:r>
          </a:p>
          <a:p>
            <a:r>
              <a:rPr lang="en-US" sz="1900" kern="100" dirty="0"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2) ER model and ER diagram developed</a:t>
            </a:r>
          </a:p>
          <a:p>
            <a:r>
              <a:rPr lang="en-US" sz="1900" kern="100" dirty="0"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3) Implementation of one to one, one to many and many to many relationships</a:t>
            </a:r>
          </a:p>
          <a:p>
            <a:r>
              <a:rPr lang="en-US" sz="1900" kern="100" dirty="0"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4) Population of tables using both the insert MySQL code and csv import</a:t>
            </a:r>
          </a:p>
          <a:p>
            <a:r>
              <a:rPr lang="en-US" sz="1900" kern="100" dirty="0"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5) Addition of new columns to several tables</a:t>
            </a:r>
          </a:p>
          <a:p>
            <a:r>
              <a:rPr lang="en-US" sz="1900" kern="100" dirty="0"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6) Determination of days for a shipment to arrive to its destination</a:t>
            </a:r>
          </a:p>
          <a:p>
            <a:r>
              <a:rPr lang="en-US" sz="1900" kern="100" dirty="0"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7) Exporting final and complete data tables in a csv/dump file format for sharing. </a:t>
            </a:r>
          </a:p>
          <a:p>
            <a:r>
              <a:rPr lang="en-US" sz="1900" kern="100" dirty="0"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Understanding relationship between the entities to ensure the three types of relationships were developed. </a:t>
            </a:r>
          </a:p>
          <a:p>
            <a:r>
              <a:rPr lang="en-US" sz="1900" kern="100" dirty="0"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ER model diagram was used to visualize the data and then consider the relationships after.</a:t>
            </a:r>
          </a:p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572827689"/>
      </p:ext>
    </p:extLst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2689A5B-F517-B5BC-D5B1-B5619DCD1BD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85330" y="804520"/>
            <a:ext cx="7772869" cy="1049235"/>
          </a:xfrm>
        </p:spPr>
        <p:txBody>
          <a:bodyPr>
            <a:normAutofit/>
          </a:bodyPr>
          <a:lstStyle/>
          <a:p>
            <a:pPr algn="ctr"/>
            <a:r>
              <a:rPr lang="en-US" sz="2800" dirty="0"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Design limitations</a:t>
            </a:r>
            <a:endParaRPr lang="en-US" sz="28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BD219217-96FC-4F10-063F-5AC1882093E2}"/>
              </a:ext>
            </a:extLst>
          </p:cNvPr>
          <p:cNvSpPr>
            <a:spLocks noGrp="1"/>
          </p:cNvSpPr>
          <p:nvPr>
            <p:ph sz="quarter" idx="13"/>
          </p:nvPr>
        </p:nvSpPr>
        <p:spPr>
          <a:xfrm>
            <a:off x="685330" y="1981200"/>
            <a:ext cx="7772870" cy="3424107"/>
          </a:xfrm>
        </p:spPr>
        <p:txBody>
          <a:bodyPr/>
          <a:lstStyle/>
          <a:p>
            <a:pPr>
              <a:lnSpc>
                <a:spcPct val="150000"/>
              </a:lnSpc>
            </a:pPr>
            <a:r>
              <a:rPr lang="en-US" sz="1800" dirty="0">
                <a:effectLst/>
                <a:latin typeface="Times New Roman" panose="02020603050405020304" pitchFamily="18" charset="0"/>
                <a:ea typeface="Calibri" panose="020F0502020204030204" pitchFamily="34" charset="0"/>
              </a:rPr>
              <a:t>Not being able to exhaust all the possible entity relationships. </a:t>
            </a:r>
          </a:p>
          <a:p>
            <a:pPr>
              <a:lnSpc>
                <a:spcPct val="150000"/>
              </a:lnSpc>
            </a:pPr>
            <a:r>
              <a:rPr lang="en-US" sz="1800" dirty="0">
                <a:effectLst/>
                <a:latin typeface="Times New Roman" panose="02020603050405020304" pitchFamily="18" charset="0"/>
                <a:ea typeface="Calibri" panose="020F0502020204030204" pitchFamily="34" charset="0"/>
              </a:rPr>
              <a:t>Potential missing some constraints or other needed information </a:t>
            </a:r>
          </a:p>
          <a:p>
            <a:pPr>
              <a:lnSpc>
                <a:spcPct val="150000"/>
              </a:lnSpc>
            </a:pPr>
            <a:r>
              <a:rPr lang="en-US" sz="1800" dirty="0">
                <a:effectLst/>
                <a:latin typeface="Times New Roman" panose="02020603050405020304" pitchFamily="18" charset="0"/>
                <a:ea typeface="Calibri" panose="020F0502020204030204" pitchFamily="34" charset="0"/>
              </a:rPr>
              <a:t>Learning curve at the beginning of the design development</a:t>
            </a:r>
          </a:p>
        </p:txBody>
      </p:sp>
    </p:spTree>
    <p:extLst>
      <p:ext uri="{BB962C8B-B14F-4D97-AF65-F5344CB8AC3E}">
        <p14:creationId xmlns:p14="http://schemas.microsoft.com/office/powerpoint/2010/main" val="4087066068"/>
      </p:ext>
    </p:extLst>
  </p:cSld>
  <p:clrMapOvr>
    <a:masterClrMapping/>
  </p:clrMapOvr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B1A0BF3-C61E-1F7F-5F25-3626165B639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85330" y="804520"/>
            <a:ext cx="7772869" cy="1049235"/>
          </a:xfrm>
        </p:spPr>
        <p:txBody>
          <a:bodyPr>
            <a:normAutofit/>
          </a:bodyPr>
          <a:lstStyle/>
          <a:p>
            <a:pPr algn="ctr"/>
            <a:r>
              <a:rPr lang="en-US" sz="2800" dirty="0"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Future considerations</a:t>
            </a:r>
            <a:endParaRPr lang="en-US" sz="28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A4326720-0114-8A25-B447-B2A73A168C7C}"/>
              </a:ext>
            </a:extLst>
          </p:cNvPr>
          <p:cNvSpPr>
            <a:spLocks noGrp="1"/>
          </p:cNvSpPr>
          <p:nvPr>
            <p:ph sz="quarter" idx="13"/>
          </p:nvPr>
        </p:nvSpPr>
        <p:spPr>
          <a:xfrm>
            <a:off x="685330" y="2057401"/>
            <a:ext cx="7772870" cy="1828800"/>
          </a:xfrm>
        </p:spPr>
        <p:txBody>
          <a:bodyPr/>
          <a:lstStyle/>
          <a:p>
            <a:pPr>
              <a:lnSpc>
                <a:spcPct val="150000"/>
              </a:lnSpc>
            </a:pPr>
            <a:r>
              <a:rPr lang="en-US" sz="1800" kern="100" dirty="0"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Adding additional relational entities  </a:t>
            </a:r>
          </a:p>
          <a:p>
            <a:pPr>
              <a:lnSpc>
                <a:spcPct val="150000"/>
              </a:lnSpc>
            </a:pPr>
            <a:r>
              <a:rPr lang="en-US" sz="1800" kern="100" dirty="0"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Using an ORM approach like SQL Alchemy. </a:t>
            </a:r>
          </a:p>
          <a:p>
            <a:pPr>
              <a:lnSpc>
                <a:spcPct val="150000"/>
              </a:lnSpc>
            </a:pPr>
            <a:r>
              <a:rPr lang="en-US" sz="1800" kern="100" dirty="0"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Understanding more of the theory for more practical implementation.</a:t>
            </a:r>
            <a:endParaRPr lang="en-US" sz="1800" kern="100" dirty="0">
              <a:effectLst/>
              <a:latin typeface="Calibri" panose="020F0502020204030204" pitchFamily="34" charset="0"/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402203752"/>
      </p:ext>
    </p:extLst>
  </p:cSld>
  <p:clrMapOvr>
    <a:masterClrMapping/>
  </p:clrMapOvr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D55957A-B283-F7C3-45CE-A598103664B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pPr algn="ctr"/>
            <a:r>
              <a:rPr lang="en-US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Thank you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E65F242A-1046-5D6D-5F66-292D6F595DF9}"/>
              </a:ext>
            </a:extLst>
          </p:cNvPr>
          <p:cNvSpPr>
            <a:spLocks noGrp="1"/>
          </p:cNvSpPr>
          <p:nvPr>
            <p:ph sz="quarter" idx="13"/>
          </p:nvPr>
        </p:nvSpPr>
        <p:spPr>
          <a:xfrm>
            <a:off x="685330" y="3129093"/>
            <a:ext cx="7772870" cy="1061907"/>
          </a:xfrm>
        </p:spPr>
        <p:txBody>
          <a:bodyPr>
            <a:normAutofit/>
          </a:bodyPr>
          <a:lstStyle/>
          <a:p>
            <a:pPr marL="0" indent="0" algn="ctr">
              <a:buNone/>
            </a:pPr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Questions ?</a:t>
            </a:r>
          </a:p>
        </p:txBody>
      </p:sp>
    </p:spTree>
    <p:extLst>
      <p:ext uri="{BB962C8B-B14F-4D97-AF65-F5344CB8AC3E}">
        <p14:creationId xmlns:p14="http://schemas.microsoft.com/office/powerpoint/2010/main" val="470629933"/>
      </p:ext>
    </p:extLst>
  </p:cSld>
  <p:clrMapOvr>
    <a:masterClrMapping/>
  </p:clrMapOvr>
</p:sld>
</file>

<file path=ppt/theme/theme1.xml><?xml version="1.0" encoding="utf-8"?>
<a:theme xmlns:a="http://schemas.openxmlformats.org/drawingml/2006/main" name="Gallery">
  <a:themeElements>
    <a:clrScheme name="Gallery">
      <a:dk1>
        <a:sysClr val="windowText" lastClr="000000"/>
      </a:dk1>
      <a:lt1>
        <a:sysClr val="window" lastClr="FFFFFF"/>
      </a:lt1>
      <a:dk2>
        <a:srgbClr val="454545"/>
      </a:dk2>
      <a:lt2>
        <a:srgbClr val="DFDBD5"/>
      </a:lt2>
      <a:accent1>
        <a:srgbClr val="B71E42"/>
      </a:accent1>
      <a:accent2>
        <a:srgbClr val="DE478E"/>
      </a:accent2>
      <a:accent3>
        <a:srgbClr val="BC72F0"/>
      </a:accent3>
      <a:accent4>
        <a:srgbClr val="795FAF"/>
      </a:accent4>
      <a:accent5>
        <a:srgbClr val="586EA6"/>
      </a:accent5>
      <a:accent6>
        <a:srgbClr val="6892A0"/>
      </a:accent6>
      <a:hlink>
        <a:srgbClr val="FA2B5C"/>
      </a:hlink>
      <a:folHlink>
        <a:srgbClr val="BC658E"/>
      </a:folHlink>
    </a:clrScheme>
    <a:fontScheme name="Gallery">
      <a:majorFont>
        <a:latin typeface="Gill Sans MT" panose="020B0502020104020203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Gill Sans MT" panose="020B0502020104020203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Gallery">
      <a:fillStyleLst>
        <a:solidFill>
          <a:schemeClr val="phClr"/>
        </a:solidFill>
        <a:gradFill rotWithShape="1">
          <a:gsLst>
            <a:gs pos="0">
              <a:schemeClr val="phClr">
                <a:tint val="54000"/>
                <a:alpha val="100000"/>
                <a:satMod val="105000"/>
                <a:lumMod val="110000"/>
              </a:schemeClr>
            </a:gs>
            <a:gs pos="100000">
              <a:schemeClr val="phClr">
                <a:tint val="78000"/>
                <a:alpha val="92000"/>
                <a:satMod val="109000"/>
                <a:lumMod val="100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tint val="98000"/>
                <a:satMod val="110000"/>
                <a:lumMod val="104000"/>
              </a:schemeClr>
            </a:gs>
            <a:gs pos="69000">
              <a:schemeClr val="phClr">
                <a:shade val="88000"/>
                <a:satMod val="130000"/>
                <a:lumMod val="92000"/>
              </a:schemeClr>
            </a:gs>
            <a:gs pos="100000">
              <a:schemeClr val="phClr">
                <a:shade val="78000"/>
                <a:satMod val="130000"/>
                <a:lumMod val="92000"/>
              </a:schemeClr>
            </a:gs>
          </a:gsLst>
          <a:lin ang="5400000" scaled="0"/>
        </a:gradFill>
      </a:fillStyleLst>
      <a:lnStyleLst>
        <a:ln w="9525" cap="flat" cmpd="sng" algn="ctr">
          <a:solidFill>
            <a:schemeClr val="phClr"/>
          </a:solidFill>
          <a:prstDash val="solid"/>
        </a:ln>
        <a:ln w="15875" cap="flat" cmpd="sng" algn="ctr">
          <a:solidFill>
            <a:schemeClr val="phClr"/>
          </a:solidFill>
          <a:prstDash val="solid"/>
        </a:ln>
        <a:ln w="22225" cap="flat" cmpd="sng" algn="ctr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0800" dist="50800" dir="5400000" sx="96000" sy="96000" rotWithShape="0">
              <a:srgbClr val="000000">
                <a:alpha val="48000"/>
              </a:srgbClr>
            </a:outerShdw>
          </a:effectLst>
          <a:scene3d>
            <a:camera prst="orthographicFront">
              <a:rot lat="0" lon="0" rev="0"/>
            </a:camera>
            <a:lightRig rig="balanced" dir="t">
              <a:rot lat="0" lon="0" rev="1080000"/>
            </a:lightRig>
          </a:scene3d>
          <a:sp3d>
            <a:bevelT w="38100" h="12700" prst="softRound"/>
          </a:sp3d>
        </a:effectStyle>
      </a:effectStyleLst>
      <a:bgFillStyleLst>
        <a:solidFill>
          <a:schemeClr val="phClr"/>
        </a:solidFill>
        <a:solidFill>
          <a:schemeClr val="phClr"/>
        </a:solidFill>
        <a:gradFill rotWithShape="1">
          <a:gsLst>
            <a:gs pos="0">
              <a:schemeClr val="phClr">
                <a:tint val="94000"/>
                <a:satMod val="80000"/>
                <a:lumMod val="106000"/>
              </a:schemeClr>
            </a:gs>
            <a:gs pos="100000">
              <a:schemeClr val="phClr">
                <a:shade val="80000"/>
              </a:schemeClr>
            </a:gs>
          </a:gsLst>
          <a:path path="circle">
            <a:fillToRect l="43000" r="43000" b="100000"/>
          </a:path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Gallery" id="{BBFCD31E-59A1-489D-B089-A3EAD7CAE12E}" vid="{F5E91637-A7B6-4E27-B710-77DA7014EE1E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Gallery</Template>
  <TotalTime>401</TotalTime>
  <Words>958</Words>
  <Application>Microsoft Office PowerPoint</Application>
  <PresentationFormat>On-screen Show (4:3)</PresentationFormat>
  <Paragraphs>115</Paragraphs>
  <Slides>30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6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30</vt:i4>
      </vt:variant>
    </vt:vector>
  </HeadingPairs>
  <TitlesOfParts>
    <vt:vector size="37" baseType="lpstr">
      <vt:lpstr>Arial</vt:lpstr>
      <vt:lpstr>Calibri</vt:lpstr>
      <vt:lpstr>Gill Sans MT</vt:lpstr>
      <vt:lpstr>Lora</vt:lpstr>
      <vt:lpstr>Times New Roman</vt:lpstr>
      <vt:lpstr>Wingdings</vt:lpstr>
      <vt:lpstr>Gallery</vt:lpstr>
      <vt:lpstr>Hybrid and relational databases  comp 5400</vt:lpstr>
      <vt:lpstr>freight forwarders database design</vt:lpstr>
      <vt:lpstr>Contents</vt:lpstr>
      <vt:lpstr>Section 1 introduction</vt:lpstr>
      <vt:lpstr>Defining and introducing the relational database and its applications</vt:lpstr>
      <vt:lpstr>Database background motivation</vt:lpstr>
      <vt:lpstr>Database users, data type, data stored or retrieved using DML</vt:lpstr>
      <vt:lpstr>Section 2 methodology</vt:lpstr>
      <vt:lpstr>Database design methods with definitions and roles</vt:lpstr>
      <vt:lpstr>Database schema and ER Diagram</vt:lpstr>
      <vt:lpstr>Entity Relation (ER) Diagrams</vt:lpstr>
      <vt:lpstr>DDL Usage for database manipulation</vt:lpstr>
      <vt:lpstr>Section 3 results</vt:lpstr>
      <vt:lpstr>Database schema</vt:lpstr>
      <vt:lpstr>Database schema cont’d</vt:lpstr>
      <vt:lpstr>Database schema cont’d</vt:lpstr>
      <vt:lpstr>Database schema cont’d</vt:lpstr>
      <vt:lpstr>Database design er model</vt:lpstr>
      <vt:lpstr>Database design ER diagram</vt:lpstr>
      <vt:lpstr>DDL Usage for database and table creation</vt:lpstr>
      <vt:lpstr>Database population</vt:lpstr>
      <vt:lpstr>Database population cont’d</vt:lpstr>
      <vt:lpstr>Database manipulation with MySQL usage</vt:lpstr>
      <vt:lpstr>Database manipulation with MySQL usage cont’d</vt:lpstr>
      <vt:lpstr>Database manipulation with MySQL usage cont’d</vt:lpstr>
      <vt:lpstr>Section 4 Discussion and conclusion</vt:lpstr>
      <vt:lpstr>Deliverables challenges faced and solutions</vt:lpstr>
      <vt:lpstr>Design limitations</vt:lpstr>
      <vt:lpstr>Future considerations</vt:lpstr>
      <vt:lpstr>Thank you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Presentation</dc:title>
  <dc:creator>Davon W Williams</dc:creator>
  <cp:lastModifiedBy>Williams, Davon (dwilliams02)</cp:lastModifiedBy>
  <cp:revision>64</cp:revision>
  <dcterms:created xsi:type="dcterms:W3CDTF">2022-12-01T04:30:38Z</dcterms:created>
  <dcterms:modified xsi:type="dcterms:W3CDTF">2023-04-24T18:38:18Z</dcterms:modified>
</cp:coreProperties>
</file>